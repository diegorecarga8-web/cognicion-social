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Corona. Corona de espinas en relieve seco (golpe seco) rodeando el monograma. La corona de esta página es una imagen de muestra del relieve; el vector para el troquel está en elementos/corona-relieve.svg. Logo y eslogan en negro 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Pantalla. La bolsa es un celular bloqueado: el monograma hace de reloj, el eslogan de fecha y WhatsApp/Instagram son los botones. Todo en blanco sobre cartulina negra (serigrafía o hot stamping blanco).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Resplandor. Rayos alrededor del monograma: se leen como luz y como señal. Una sola tinta negra.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Cruz en el celular. La cruz aparece en el espacio blanco que parte la silueta del celular. Una tinta negra; fuelles negros.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Luz y sombra. Mitad negra, mitad blanca: todo cambia de color al cruzar la línea (Juan 1:5). El logo y el eslogan partidos van como gráficos de dos colores.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Monograma. Patrón de JJ y cruces en barniz UV brillante sobre laminado mate negro (aquí en gris solo para verlo). Etiqueta blanca impresa con el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Tipográfico. El eslogan como protagonista; Génesis 12:2 es el versículo del que sale «bendecidos para bendecir». En el fuelle va el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Sello. Sello circular en blanco sobre negro. El mismo sello sirve de sticker para cerrar bolsas y cajas. Para cambiar las palabras del anillo en Canva, usa un texto con el efecto «Curvar».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Reverso. Cara trasera para cualquier opción. Cambia los textos entre corchetes por los datos reales y reemplaza el QR de ejemplo por uno real (por ejemplo, un enlace wa.me al número de la tienda).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image" Target="../media/image18.png"/><Relationship Id="rId13" Type="http://schemas.openxmlformats.org/officeDocument/2006/relationships/image" Target="../media/image19.svg"/><Relationship Id="rId14" Type="http://schemas.openxmlformats.org/officeDocument/2006/relationships/image" Target="../media/image20.png"/><Relationship Id="rId15" Type="http://schemas.openxmlformats.org/officeDocument/2006/relationships/image" Target="../media/image21.svg"/><Relationship Id="rId1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28.png"/><Relationship Id="rId9" Type="http://schemas.openxmlformats.org/officeDocument/2006/relationships/image" Target="../media/image29.sv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image" Target="../media/image34.png"/><Relationship Id="rId7" Type="http://schemas.openxmlformats.org/officeDocument/2006/relationships/image" Target="../media/image35.sv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38.png"/><Relationship Id="rId5" Type="http://schemas.openxmlformats.org/officeDocument/2006/relationships/image" Target="../media/image39.sv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svg"/><Relationship Id="rId4" Type="http://schemas.openxmlformats.org/officeDocument/2006/relationships/image" Target="../media/image42.png"/><Relationship Id="rId5" Type="http://schemas.openxmlformats.org/officeDocument/2006/relationships/image" Target="../media/image43.svg"/><Relationship Id="rId6" Type="http://schemas.openxmlformats.org/officeDocument/2006/relationships/image" Target="../media/image28.png"/><Relationship Id="rId7" Type="http://schemas.openxmlformats.org/officeDocument/2006/relationships/image" Target="../media/image44.sv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image" Target="../media/image47.png"/><Relationship Id="rId5" Type="http://schemas.openxmlformats.org/officeDocument/2006/relationships/image" Target="../media/image48.svg"/><Relationship Id="rId6" Type="http://schemas.openxmlformats.org/officeDocument/2006/relationships/image" Target="../media/image49.png"/><Relationship Id="rId7" Type="http://schemas.openxmlformats.org/officeDocument/2006/relationships/image" Target="../media/image50.svg"/><Relationship Id="rId8" Type="http://schemas.openxmlformats.org/officeDocument/2006/relationships/image" Target="../media/image51.png"/><Relationship Id="rId9" Type="http://schemas.openxmlformats.org/officeDocument/2006/relationships/image" Target="../media/image52.svg"/><Relationship Id="rId10" Type="http://schemas.openxmlformats.org/officeDocument/2006/relationships/image" Target="../media/image53.png"/><Relationship Id="rId11" Type="http://schemas.openxmlformats.org/officeDocument/2006/relationships/image" Target="../media/image54.svg"/><Relationship Id="rId12" Type="http://schemas.openxmlformats.org/officeDocument/2006/relationships/image" Target="../media/image55.png"/><Relationship Id="rId13" Type="http://schemas.openxmlformats.org/officeDocument/2006/relationships/image" Target="../media/image56.svg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svg"/><Relationship Id="rId4" Type="http://schemas.openxmlformats.org/officeDocument/2006/relationships/image" Target="../media/image59.png"/><Relationship Id="rId5" Type="http://schemas.openxmlformats.org/officeDocument/2006/relationships/image" Target="../media/image60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svg"/><Relationship Id="rId4" Type="http://schemas.openxmlformats.org/officeDocument/2006/relationships/image" Target="../media/image63.png"/><Relationship Id="rId5" Type="http://schemas.openxmlformats.org/officeDocument/2006/relationships/image" Target="../media/image64.svg"/><Relationship Id="rId6" Type="http://schemas.openxmlformats.org/officeDocument/2006/relationships/image" Target="../media/image65.png"/><Relationship Id="rId7" Type="http://schemas.openxmlformats.org/officeDocument/2006/relationships/image" Target="../media/image66.svg"/><Relationship Id="rId8" Type="http://schemas.openxmlformats.org/officeDocument/2006/relationships/image" Target="../media/image67.png"/><Relationship Id="rId9" Type="http://schemas.openxmlformats.org/officeDocument/2006/relationships/image" Target="../media/image68.svg"/><Relationship Id="rId10" Type="http://schemas.openxmlformats.org/officeDocument/2006/relationships/image" Target="../media/image69.png"/><Relationship Id="rId11" Type="http://schemas.openxmlformats.org/officeDocument/2006/relationships/image" Target="../media/image70.svg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rona de espinas (muestra del relieve seco)" descr="Corona de espinas (muestra del relieve sec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276" y="1547478"/>
            <a:ext cx="5607900" cy="5735502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8480" y="2910456"/>
            <a:ext cx="1857204" cy="2916288"/>
          </a:xfrm>
          <a:prstGeom prst="rect">
            <a:avLst/>
          </a:prstGeom>
        </p:spPr>
      </p:pic>
      <p:pic>
        <p:nvPicPr>
          <p:cNvPr id="4" name="Logo · JDCEL" descr="Logo · JDC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2332" y="7833600"/>
            <a:ext cx="4158252" cy="728064"/>
          </a:xfrm>
          <a:prstGeom prst="rect">
            <a:avLst/>
          </a:prstGeom>
        </p:spPr>
      </p:pic>
      <p:pic>
        <p:nvPicPr>
          <p:cNvPr id="5" name="Logo · Bq" descr="Logo · Bq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84993" y="8677440"/>
            <a:ext cx="868607" cy="714960"/>
          </a:xfrm>
          <a:prstGeom prst="rect">
            <a:avLst/>
          </a:prstGeom>
        </p:spPr>
      </p:pic>
      <p:sp>
        <p:nvSpPr>
          <p:cNvPr id="6" name="Eslogan"/>
          <p:cNvSpPr txBox="1"/>
          <p:nvPr/>
        </p:nvSpPr>
        <p:spPr>
          <a:xfrm>
            <a:off x="2233062" y="9465228"/>
            <a:ext cx="4533876" cy="5684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12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Celular"/>
          <p:cNvGrpSpPr/>
          <p:nvPr/>
        </p:nvGrpSpPr>
        <p:grpSpPr>
          <a:xfrm>
            <a:off x="2232000" y="1656000"/>
            <a:ext cx="4536000" cy="8676000"/>
            <a:chOff x="2232000" y="1656000"/>
            <a:chExt cx="4536000" cy="8676000"/>
          </a:xfrm>
        </p:grpSpPr>
        <p:sp>
          <p:nvSpPr>
            <p:cNvPr id="3" name="Marco"/>
            <p:cNvSpPr/>
            <p:nvPr/>
          </p:nvSpPr>
          <p:spPr>
            <a:xfrm>
              <a:off x="2376000" y="1656000"/>
              <a:ext cx="4248000" cy="8676000"/>
            </a:xfrm>
            <a:prstGeom prst="roundRect">
              <a:avLst>
                <a:gd name="adj" fmla="val 17796"/>
              </a:avLst>
            </a:prstGeom>
            <a:noFill/>
            <a:ln w="720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" name="Botones laterales" descr="Botones laterales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2000" y="3078000"/>
              <a:ext cx="4536000" cy="2484000"/>
            </a:xfrm>
            <a:prstGeom prst="rect">
              <a:avLst/>
            </a:prstGeom>
          </p:spPr>
        </p:pic>
        <p:sp>
          <p:nvSpPr>
            <p:cNvPr id="5" name="Isla"/>
            <p:cNvSpPr/>
            <p:nvPr/>
          </p:nvSpPr>
          <p:spPr>
            <a:xfrm>
              <a:off x="3888000" y="1908000"/>
              <a:ext cx="1224000" cy="378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perador"/>
            <p:cNvSpPr txBox="1"/>
            <p:nvPr/>
          </p:nvSpPr>
          <p:spPr>
            <a:xfrm>
              <a:off x="2754000" y="2030058"/>
              <a:ext cx="1352961" cy="2261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490" b="1" i="0">
                  <a:solidFill>
                    <a:srgbClr val="FFFFFF"/>
                  </a:solidFill>
                  <a:latin typeface="Archivo"/>
                </a:rPr>
                <a:t>JDCEL</a:t>
              </a:r>
            </a:p>
          </p:txBody>
        </p:sp>
        <p:pic>
          <p:nvPicPr>
            <p:cNvPr id="7" name="Señal y batería" descr="Señal y batería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90000" y="2016000"/>
              <a:ext cx="835200" cy="216000"/>
            </a:xfrm>
            <a:prstGeom prst="rect">
              <a:avLst/>
            </a:prstGeom>
          </p:spPr>
        </p:pic>
        <p:pic>
          <p:nvPicPr>
            <p:cNvPr id="8" name="Candado" descr="Candado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8000" y="2401236"/>
              <a:ext cx="324000" cy="406764"/>
            </a:xfrm>
            <a:prstGeom prst="rect">
              <a:avLst/>
            </a:prstGeom>
          </p:spPr>
        </p:pic>
        <p:sp>
          <p:nvSpPr>
            <p:cNvPr id="9" name="Fecha (eslogan)"/>
            <p:cNvSpPr txBox="1"/>
            <p:nvPr/>
          </p:nvSpPr>
          <p:spPr>
            <a:xfrm>
              <a:off x="2646684" y="2985732"/>
              <a:ext cx="3706632" cy="46510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1">
                  <a:solidFill>
                    <a:srgbClr val="FFFFFF"/>
                  </a:solidFill>
                  <a:latin typeface="EB Garamond"/>
                </a:rPr>
                <a:t>bendecidos para bendecir</a:t>
              </a:r>
            </a:p>
          </p:txBody>
        </p:sp>
        <p:pic>
          <p:nvPicPr>
            <p:cNvPr id="10" name="Logo · monograma JJ (reloj)" descr="Logo · monograma JJ (reloj)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59840" y="3751848"/>
              <a:ext cx="1507932" cy="2363904"/>
            </a:xfrm>
            <a:prstGeom prst="rect">
              <a:avLst/>
            </a:prstGeom>
          </p:spPr>
        </p:pic>
        <p:sp>
          <p:nvSpPr>
            <p:cNvPr id="11" name="Notificación"/>
            <p:cNvSpPr/>
            <p:nvPr/>
          </p:nvSpPr>
          <p:spPr>
            <a:xfrm>
              <a:off x="2628000" y="6552000"/>
              <a:ext cx="3744000" cy="1116000"/>
            </a:xfrm>
            <a:prstGeom prst="roundRect">
              <a:avLst>
                <a:gd name="adj" fmla="val 27419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Ícono de la app"/>
            <p:cNvSpPr/>
            <p:nvPr/>
          </p:nvSpPr>
          <p:spPr>
            <a:xfrm>
              <a:off x="2826000" y="6804000"/>
              <a:ext cx="612000" cy="612000"/>
            </a:xfrm>
            <a:prstGeom prst="roundRect">
              <a:avLst>
                <a:gd name="adj" fmla="val 26470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Monograma del ícono" descr="Monograma del ícono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61000" y="6822900"/>
              <a:ext cx="347850" cy="529200"/>
            </a:xfrm>
            <a:prstGeom prst="rect">
              <a:avLst/>
            </a:prstGeom>
          </p:spPr>
        </p:pic>
        <p:sp>
          <p:nvSpPr>
            <p:cNvPr id="14" name="Notificación · título"/>
            <p:cNvSpPr txBox="1"/>
            <p:nvPr/>
          </p:nvSpPr>
          <p:spPr>
            <a:xfrm>
              <a:off x="3600000" y="6864156"/>
              <a:ext cx="1656810" cy="2692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60" b="1" i="0">
                  <a:solidFill>
                    <a:srgbClr val="111111"/>
                  </a:solidFill>
                  <a:latin typeface="Archivo"/>
                </a:rPr>
                <a:t>JDCEL </a:t>
              </a:r>
              <a:r>
                <a:rPr sz="1770" b="0" i="0">
                  <a:solidFill>
                    <a:srgbClr val="111111"/>
                  </a:solidFill>
                  <a:latin typeface="Playball"/>
                </a:rPr>
                <a:t>Bq</a:t>
              </a:r>
            </a:p>
          </p:txBody>
        </p:sp>
        <p:sp>
          <p:nvSpPr>
            <p:cNvPr id="15" name="Notificación · hora"/>
            <p:cNvSpPr txBox="1"/>
            <p:nvPr/>
          </p:nvSpPr>
          <p:spPr>
            <a:xfrm>
              <a:off x="5018805" y="6887862"/>
              <a:ext cx="1155195" cy="20465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350" b="0" i="0">
                  <a:solidFill>
                    <a:srgbClr val="666666"/>
                  </a:solidFill>
                  <a:latin typeface="Archivo"/>
                </a:rPr>
                <a:t>ahora</a:t>
              </a:r>
            </a:p>
          </p:txBody>
        </p:sp>
        <p:sp>
          <p:nvSpPr>
            <p:cNvPr id="16" name="Notificación · mensaje"/>
            <p:cNvSpPr txBox="1"/>
            <p:nvPr/>
          </p:nvSpPr>
          <p:spPr>
            <a:xfrm>
              <a:off x="3600000" y="7135425"/>
              <a:ext cx="2753325" cy="3229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770" b="0" i="0">
                  <a:solidFill>
                    <a:srgbClr val="111111"/>
                  </a:solidFill>
                  <a:latin typeface="EB Garamond"/>
                </a:rPr>
                <a:t>¡Gracias por tu compra!</a:t>
              </a:r>
            </a:p>
          </p:txBody>
        </p:sp>
        <p:sp>
          <p:nvSpPr>
            <p:cNvPr id="17" name="Botón WhatsApp"/>
            <p:cNvSpPr/>
            <p:nvPr/>
          </p:nvSpPr>
          <p:spPr>
            <a:xfrm>
              <a:off x="2754000" y="9054000"/>
              <a:ext cx="756000" cy="756000"/>
            </a:xfrm>
            <a:prstGeom prst="ellipse">
              <a:avLst/>
            </a:prstGeom>
            <a:noFill/>
            <a:ln w="288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otón Instagram"/>
            <p:cNvSpPr/>
            <p:nvPr/>
          </p:nvSpPr>
          <p:spPr>
            <a:xfrm>
              <a:off x="5490000" y="9054000"/>
              <a:ext cx="756000" cy="756000"/>
            </a:xfrm>
            <a:prstGeom prst="ellipse">
              <a:avLst/>
            </a:prstGeom>
            <a:noFill/>
            <a:ln w="288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9" name="Ícono WhatsApp" descr="Ícono WhatsApp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46690" y="9246546"/>
              <a:ext cx="371304" cy="370908"/>
            </a:xfrm>
            <a:prstGeom prst="rect">
              <a:avLst/>
            </a:prstGeom>
          </p:spPr>
        </p:pic>
        <p:pic>
          <p:nvPicPr>
            <p:cNvPr id="20" name="Ícono Instagram" descr="Ícono Instagram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85822" y="9249822"/>
              <a:ext cx="364356" cy="364356"/>
            </a:xfrm>
            <a:prstGeom prst="rect">
              <a:avLst/>
            </a:prstGeom>
          </p:spPr>
        </p:pic>
        <p:sp>
          <p:nvSpPr>
            <p:cNvPr id="21" name="Barra de inicio"/>
            <p:cNvSpPr/>
            <p:nvPr/>
          </p:nvSpPr>
          <p:spPr>
            <a:xfrm>
              <a:off x="3690000" y="10026000"/>
              <a:ext cx="1620000" cy="90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splandor (rayos)" descr="Resplandor (rayos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000" y="1386000"/>
            <a:ext cx="6156000" cy="6156000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8800" y="3261960"/>
            <a:ext cx="1408140" cy="2206080"/>
          </a:xfrm>
          <a:prstGeom prst="rect">
            <a:avLst/>
          </a:prstGeom>
        </p:spPr>
      </p:pic>
      <p:pic>
        <p:nvPicPr>
          <p:cNvPr id="4" name="Logo · JDCEL" descr="Logo · JDCE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1184" y="7873200"/>
            <a:ext cx="3700224" cy="651168"/>
          </a:xfrm>
          <a:prstGeom prst="rect">
            <a:avLst/>
          </a:prstGeom>
        </p:spPr>
      </p:pic>
      <p:pic>
        <p:nvPicPr>
          <p:cNvPr id="5" name="Logo · Bq" descr="Logo · Bq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4694" y="8655696"/>
            <a:ext cx="785346" cy="647064"/>
          </a:xfrm>
          <a:prstGeom prst="rect">
            <a:avLst/>
          </a:prstGeom>
        </p:spPr>
      </p:pic>
      <p:sp>
        <p:nvSpPr>
          <p:cNvPr id="6" name="Eslogan"/>
          <p:cNvSpPr txBox="1"/>
          <p:nvPr/>
        </p:nvSpPr>
        <p:spPr>
          <a:xfrm>
            <a:off x="2319741" y="9447354"/>
            <a:ext cx="4360518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elular con la cruz" descr="Celular con la cruz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6000" y="1422000"/>
            <a:ext cx="3528000" cy="6516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3468" y="8402400"/>
            <a:ext cx="3547548" cy="625536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2950" y="8583696"/>
            <a:ext cx="785346" cy="647064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2319741" y="9375354"/>
            <a:ext cx="4360518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itad negra"/>
          <p:cNvSpPr/>
          <p:nvPr/>
        </p:nvSpPr>
        <p:spPr>
          <a:xfrm>
            <a:off x="0" y="0"/>
            <a:ext cx="4500000" cy="108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Logo partido (blanco | negro)" descr="Logo partido (blanco | negr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480" y="1946592"/>
            <a:ext cx="4616280" cy="6482268"/>
          </a:xfrm>
          <a:prstGeom prst="rect">
            <a:avLst/>
          </a:prstGeom>
        </p:spPr>
      </p:pic>
      <p:pic>
        <p:nvPicPr>
          <p:cNvPr id="4" name="Eslogan partido (blanco | negro)" descr="Eslogan partido (blanco | negr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5016" y="9410130"/>
            <a:ext cx="4014540" cy="445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atrón JJ + cruces (barniz UV)" descr="Patrón JJ + cruces (barniz UV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000" y="-18000"/>
            <a:ext cx="9036000" cy="10773000"/>
          </a:xfrm>
          <a:prstGeom prst="rect">
            <a:avLst/>
          </a:prstGeom>
        </p:spPr>
      </p:pic>
      <p:grpSp>
        <p:nvGrpSpPr>
          <p:cNvPr id="3" name="Etiqueta"/>
          <p:cNvGrpSpPr/>
          <p:nvPr/>
        </p:nvGrpSpPr>
        <p:grpSpPr>
          <a:xfrm>
            <a:off x="2088000" y="3816000"/>
            <a:ext cx="4824000" cy="3168000"/>
            <a:chOff x="2088000" y="3816000"/>
            <a:chExt cx="4824000" cy="3168000"/>
          </a:xfrm>
        </p:grpSpPr>
        <p:sp>
          <p:nvSpPr>
            <p:cNvPr id="4" name="Etiqueta"/>
            <p:cNvSpPr/>
            <p:nvPr/>
          </p:nvSpPr>
          <p:spPr>
            <a:xfrm>
              <a:off x="2088000" y="3816000"/>
              <a:ext cx="4824000" cy="316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ilete"/>
            <p:cNvSpPr/>
            <p:nvPr/>
          </p:nvSpPr>
          <p:spPr>
            <a:xfrm>
              <a:off x="2223000" y="3951000"/>
              <a:ext cx="4554000" cy="2898000"/>
            </a:xfrm>
            <a:prstGeom prst="rect">
              <a:avLst/>
            </a:prstGeom>
            <a:noFill/>
            <a:ln w="21600">
              <a:solidFill>
                <a:srgbClr val="11111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Logo · JDCEL" descr="Logo · JDCE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74900" y="4572000"/>
              <a:ext cx="3852900" cy="676800"/>
            </a:xfrm>
            <a:prstGeom prst="rect">
              <a:avLst/>
            </a:prstGeom>
          </p:spPr>
        </p:pic>
        <p:pic>
          <p:nvPicPr>
            <p:cNvPr id="7" name="Logo · Bq" descr="Logo · Bq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24694" y="5433696"/>
              <a:ext cx="785346" cy="647064"/>
            </a:xfrm>
            <a:prstGeom prst="rect">
              <a:avLst/>
            </a:prstGeom>
          </p:spPr>
        </p:pic>
        <p:cxnSp>
          <p:nvCxnSpPr>
            <p:cNvPr id="8" name="Línea"/>
            <p:cNvCxnSpPr/>
            <p:nvPr/>
          </p:nvCxnSpPr>
          <p:spPr>
            <a:xfrm>
              <a:off x="3870000" y="6156000"/>
              <a:ext cx="1260000" cy="0"/>
            </a:xfrm>
            <a:prstGeom prst="line">
              <a:avLst/>
            </a:prstGeom>
            <a:ln w="18000">
              <a:solidFill>
                <a:srgbClr val="111111"/>
              </a:solidFill>
            </a:ln>
          </p:spPr>
        </p:cxnSp>
        <p:sp>
          <p:nvSpPr>
            <p:cNvPr id="9" name="Eslogan"/>
            <p:cNvSpPr txBox="1"/>
            <p:nvPr/>
          </p:nvSpPr>
          <p:spPr>
            <a:xfrm>
              <a:off x="2709796" y="6288921"/>
              <a:ext cx="3580407" cy="4263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340" b="0" i="0">
                  <a:solidFill>
                    <a:srgbClr val="111111"/>
                  </a:solidFill>
                  <a:latin typeface="EB Garamond"/>
                </a:rPr>
                <a:t>bendecidos para bendecir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080" y="1647576"/>
            <a:ext cx="859284" cy="1338048"/>
          </a:xfrm>
          <a:prstGeom prst="rect">
            <a:avLst/>
          </a:prstGeom>
        </p:spPr>
      </p:pic>
      <p:grpSp>
        <p:nvGrpSpPr>
          <p:cNvPr id="3" name="Eslogan grande"/>
          <p:cNvGrpSpPr/>
          <p:nvPr/>
        </p:nvGrpSpPr>
        <p:grpSpPr>
          <a:xfrm>
            <a:off x="836740" y="4402800"/>
            <a:ext cx="7362261" cy="3081024"/>
            <a:chOff x="836740" y="4402800"/>
            <a:chExt cx="7362261" cy="3081024"/>
          </a:xfrm>
        </p:grpSpPr>
        <p:pic>
          <p:nvPicPr>
            <p:cNvPr id="4" name="BENDECIDOS" descr="BENDECIDOS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740" y="4402800"/>
              <a:ext cx="7358738" cy="702432"/>
            </a:xfrm>
            <a:prstGeom prst="rect">
              <a:avLst/>
            </a:prstGeom>
          </p:spPr>
        </p:pic>
        <p:pic>
          <p:nvPicPr>
            <p:cNvPr id="5" name="para" descr="para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3946" y="5460588"/>
              <a:ext cx="2538828" cy="953748"/>
            </a:xfrm>
            <a:prstGeom prst="rect">
              <a:avLst/>
            </a:prstGeom>
          </p:spPr>
        </p:pic>
        <p:pic>
          <p:nvPicPr>
            <p:cNvPr id="6" name="BENDECIR" descr="BENDECIR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3916" y="6627600"/>
              <a:ext cx="7345085" cy="856224"/>
            </a:xfrm>
            <a:prstGeom prst="rect">
              <a:avLst/>
            </a:prstGeom>
          </p:spPr>
        </p:pic>
      </p:grpSp>
      <p:cxnSp>
        <p:nvCxnSpPr>
          <p:cNvPr id="7" name="Línea"/>
          <p:cNvCxnSpPr/>
          <p:nvPr/>
        </p:nvCxnSpPr>
        <p:spPr>
          <a:xfrm>
            <a:off x="792000" y="8532000"/>
            <a:ext cx="7416000" cy="0"/>
          </a:xfrm>
          <a:prstGeom prst="line">
            <a:avLst/>
          </a:prstGeom>
          <a:ln w="18000">
            <a:solidFill>
              <a:srgbClr val="111111"/>
            </a:solidFill>
          </a:ln>
        </p:spPr>
      </p:cxnSp>
      <p:pic>
        <p:nvPicPr>
          <p:cNvPr id="8" name="Logo · JDCEL" descr="Logo · JDCEL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296" y="8978400"/>
            <a:ext cx="2020788" cy="369216"/>
          </a:xfrm>
          <a:prstGeom prst="rect">
            <a:avLst/>
          </a:prstGeom>
        </p:spPr>
      </p:pic>
      <p:pic>
        <p:nvPicPr>
          <p:cNvPr id="9" name="Logo · Bq" descr="Logo · Bq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72242" y="9015336"/>
            <a:ext cx="577194" cy="477324"/>
          </a:xfrm>
          <a:prstGeom prst="rect">
            <a:avLst/>
          </a:prstGeom>
        </p:spPr>
      </p:pic>
      <p:sp>
        <p:nvSpPr>
          <p:cNvPr id="10" name="Cita"/>
          <p:cNvSpPr txBox="1"/>
          <p:nvPr/>
        </p:nvSpPr>
        <p:spPr>
          <a:xfrm>
            <a:off x="6163776" y="9015984"/>
            <a:ext cx="2044224" cy="4134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270" b="0" i="1">
                <a:solidFill>
                  <a:srgbClr val="111111"/>
                </a:solidFill>
                <a:latin typeface="EB Garamond"/>
              </a:rPr>
              <a:t>Génesis 12:2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lo (anillos y texto curvo)" descr="Sello (anillos y texto curv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636" y="2226600"/>
            <a:ext cx="6058764" cy="6058800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4160" y="3817152"/>
            <a:ext cx="1682568" cy="2640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120" y="1921464"/>
            <a:ext cx="959076" cy="1495872"/>
          </a:xfrm>
          <a:prstGeom prst="rect">
            <a:avLst/>
          </a:prstGeom>
        </p:spPr>
      </p:pic>
      <p:cxnSp>
        <p:nvCxnSpPr>
          <p:cNvPr id="3" name="Línea"/>
          <p:cNvCxnSpPr/>
          <p:nvPr/>
        </p:nvCxnSpPr>
        <p:spPr>
          <a:xfrm>
            <a:off x="2304000" y="3924000"/>
            <a:ext cx="4392000" cy="0"/>
          </a:xfrm>
          <a:prstGeom prst="line">
            <a:avLst/>
          </a:prstGeom>
          <a:ln w="18000">
            <a:solidFill>
              <a:srgbClr val="111111"/>
            </a:solidFill>
          </a:ln>
        </p:spPr>
      </p:cxnSp>
      <p:pic>
        <p:nvPicPr>
          <p:cNvPr id="4" name="Ícono WhatsApp" descr="Ícono WhatsA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2252" y="4392090"/>
            <a:ext cx="432288" cy="431802"/>
          </a:xfrm>
          <a:prstGeom prst="rect">
            <a:avLst/>
          </a:prstGeom>
        </p:spPr>
      </p:pic>
      <p:sp>
        <p:nvSpPr>
          <p:cNvPr id="5" name="WhatsApp"/>
          <p:cNvSpPr txBox="1"/>
          <p:nvPr/>
        </p:nvSpPr>
        <p:spPr>
          <a:xfrm>
            <a:off x="3024000" y="4384116"/>
            <a:ext cx="2799000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[tu número]</a:t>
            </a:r>
          </a:p>
        </p:txBody>
      </p:sp>
      <p:pic>
        <p:nvPicPr>
          <p:cNvPr id="6" name="Ícono Instagram" descr="Ícono Instagra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25978" y="5115978"/>
            <a:ext cx="424044" cy="424044"/>
          </a:xfrm>
          <a:prstGeom prst="rect">
            <a:avLst/>
          </a:prstGeom>
        </p:spPr>
      </p:pic>
      <p:sp>
        <p:nvSpPr>
          <p:cNvPr id="7" name="Instagram"/>
          <p:cNvSpPr txBox="1"/>
          <p:nvPr/>
        </p:nvSpPr>
        <p:spPr>
          <a:xfrm>
            <a:off x="3024000" y="5104116"/>
            <a:ext cx="3275280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[@tu_usuario]</a:t>
            </a:r>
          </a:p>
        </p:txBody>
      </p:sp>
      <p:pic>
        <p:nvPicPr>
          <p:cNvPr id="8" name="Ícono ubicación" descr="Ícono ubicació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68890" y="5841864"/>
            <a:ext cx="338220" cy="427914"/>
          </a:xfrm>
          <a:prstGeom prst="rect">
            <a:avLst/>
          </a:prstGeom>
        </p:spPr>
      </p:pic>
      <p:sp>
        <p:nvSpPr>
          <p:cNvPr id="9" name="Dirección"/>
          <p:cNvSpPr txBox="1"/>
          <p:nvPr/>
        </p:nvSpPr>
        <p:spPr>
          <a:xfrm>
            <a:off x="3024000" y="5824116"/>
            <a:ext cx="4238424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[dirección del local]</a:t>
            </a:r>
          </a:p>
        </p:txBody>
      </p:sp>
      <p:pic>
        <p:nvPicPr>
          <p:cNvPr id="10" name="Código QR (de ejemplo)" descr="Código QR (de ejemplo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10000" y="6714000"/>
            <a:ext cx="1980000" cy="1980000"/>
          </a:xfrm>
          <a:prstGeom prst="rect">
            <a:avLst/>
          </a:prstGeom>
        </p:spPr>
      </p:pic>
      <p:sp>
        <p:nvSpPr>
          <p:cNvPr id="11" name="Texto del QR"/>
          <p:cNvSpPr txBox="1"/>
          <p:nvPr/>
        </p:nvSpPr>
        <p:spPr>
          <a:xfrm>
            <a:off x="2213010" y="8836110"/>
            <a:ext cx="4573980" cy="3875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130" b="0" i="0">
                <a:solidFill>
                  <a:srgbClr val="111111"/>
                </a:solidFill>
                <a:latin typeface="EB Garamond"/>
              </a:rPr>
              <a:t>escanéalo y escríbenos por WhatsApp</a:t>
            </a:r>
          </a:p>
        </p:txBody>
      </p:sp>
      <p:sp>
        <p:nvSpPr>
          <p:cNvPr id="12" name="Eslogan"/>
          <p:cNvSpPr txBox="1"/>
          <p:nvPr/>
        </p:nvSpPr>
        <p:spPr>
          <a:xfrm>
            <a:off x="2397798" y="9807354"/>
            <a:ext cx="4204404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1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propuestas de bolsa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