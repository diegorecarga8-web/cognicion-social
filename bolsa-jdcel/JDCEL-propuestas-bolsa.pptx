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Propuestas de bolsa para JDCEL Bq, todas en negro y blanco. El monograma JJ de las imágenes es una aproximación hecha con tipografía: en producción va el logo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son el frente de la bolsa, menos la 09, que es un reverso para combinar con cualquiera. La 10 es el diseño nuevo con el contacto real de la tienda. El monograma JJ de las imágenes es aproximado.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Corona. Evolución de la propuesta original: en vez del rostro completo, solo la corona de espinas en relieve seco alrededor del monograma. El logo manda, el molde del relieve es más pequeño (más barato) y el símbolo funciona para cualquier creyente. Impresión: relieve seco (golpe seco) y logo en negro mate u hot stamping negro.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Pantalla. La bolsa imita la pantalla de bloqueo de un celular. El monograma ocupa el lugar del reloj, el eslogan el de la fecha, y los botones de linterna y cámara se vuelven WhatsApp e Instagram. Es la más memorable y dice «celulares» sin escribirlo. Impresión: blanco sobre cartulina negra (serigrafía o hot stamping blanco). Cordón blanco.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Resplandor. Rayos alrededor del monograma: luz y señal a la vez. Una sola tinta negra, la opción más económica y la que mejor se ve de lejos.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Cruz en el celular. La silueta de un celular partida por una cruz en el espacio blanco; la cruz se descubre en una segunda mirada. Una tinta negra; los fuelles van negros para dar contraste.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Luz y sombra. El monograma, el nombre y el eslogan cambian de color al cruzar la línea del centro. Idea de fondo: la luz en la oscuridad (Juan 1:5). Una tinta negra; la mitad negra es un fondo impreso.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Monograma. Bolsa negra con un patrón de monogramas y cruces en barniz UV brillante sobre laminado mate: solo aparece cuando le pega la luz. En el centro, una etiqueta blanca con el logo. Es de las más costosas por el barniz.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Tipográfico. El eslogan es el protagonista, con la cita de Génesis 12:2 («te bendeciré… y serás bendición»), de donde viene «bendecidos para bendecir». El QR va en el fuelle. Una tinta negra.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Sello. Sello circular en blanco con el eslogan alrededor del monograma. El mismo sello sirve de sticker para cerrar bolsas y cajas, así el empaque completo se ve igual. Impresión en blanco sobre negro.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Reverso. La cara de atrás sirve para cualquier propuesta. Los datos entre corchetes son de ejemplo: hay que poner el número, el @ y la dirección reales, y generar el QR con un enlace wa.me al número de la tienda.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Monograma claro. La versión clara del patrón de la propuesta 06: monogramas y cruces en gris claro sobre blanco, logo grande y contacto al frente (WhatsApp 3117346937, Instagram jdcelbq_). El gris puede imprimirse como una trama del negro, así que sale con una sola tinta.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Baja: una tinta. Media: blanco sobre cartulina negra. Alta: relieve seco o barniz UV, que necesitan molde o capa aparte. Es una referencia para elegir; los costos los confirma la imprenta.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troquel lo entrega la imprenta: sobre él se monta el frente, los fuelles, el reverso y la base. Los frentes están en arte-frente/ (SVG) y en canva/ (para editar en Canva).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 Id="rId7" Type="http://schemas.openxmlformats.org/officeDocument/2006/relationships/image" Target="../media/image-2-7.jpg"/><Relationship Id="rId8" Type="http://schemas.openxmlformats.org/officeDocument/2006/relationships/image" Target="../media/image-2-8.jpg"/><Relationship Id="rId9" Type="http://schemas.openxmlformats.org/officeDocument/2006/relationships/image" Target="../media/image-2-9.jpg"/><Relationship Id="rId10" Type="http://schemas.openxmlformats.org/officeDocument/2006/relationships/image" Target="../media/image-2-10.jp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Bolsa negra de la propuesta Pantalla">    </p:cNvPr>
          <p:cNvPicPr>
            <a:picLocks noChangeAspect="1"/>
          </p:cNvPicPr>
          <p:nvPr/>
        </p:nvPicPr>
        <p:blipFill>
          <a:blip r:embed="rId1"/>
          <a:stretch>
            <a:fillRect/>
          </a:stretch>
        </p:blipFill>
        <p:spPr>
          <a:xfrm>
            <a:off x="6019495" y="0"/>
            <a:ext cx="6172200" cy="6858000"/>
          </a:xfrm>
          <a:prstGeom prst="rect">
            <a:avLst/>
          </a:prstGeom>
        </p:spPr>
      </p:pic>
      <p:pic>
        <p:nvPicPr>
          <p:cNvPr id="3" name="Image 1" descr="JDCEL">    </p:cNvPr>
          <p:cNvPicPr>
            <a:picLocks noChangeAspect="1"/>
          </p:cNvPicPr>
          <p:nvPr/>
        </p:nvPicPr>
        <p:blipFill>
          <a:blip r:embed="rId2"/>
          <a:stretch>
            <a:fillRect/>
          </a:stretch>
        </p:blipFill>
        <p:spPr>
          <a:xfrm>
            <a:off x="731520" y="1234440"/>
            <a:ext cx="3931920" cy="688482"/>
          </a:xfrm>
          <a:prstGeom prst="rect">
            <a:avLst/>
          </a:prstGeom>
        </p:spPr>
      </p:pic>
      <p:pic>
        <p:nvPicPr>
          <p:cNvPr id="4" name="Image 2" descr="Bq">    </p:cNvPr>
          <p:cNvPicPr>
            <a:picLocks noChangeAspect="1"/>
          </p:cNvPicPr>
          <p:nvPr/>
        </p:nvPicPr>
        <p:blipFill>
          <a:blip r:embed="rId3"/>
          <a:stretch>
            <a:fillRect/>
          </a:stretch>
        </p:blipFill>
        <p:spPr>
          <a:xfrm>
            <a:off x="2240280" y="1996074"/>
            <a:ext cx="914400" cy="752589"/>
          </a:xfrm>
          <a:prstGeom prst="rect">
            <a:avLst/>
          </a:prstGeom>
        </p:spPr>
      </p:pic>
      <p:sp>
        <p:nvSpPr>
          <p:cNvPr id="5" name="Text 0"/>
          <p:cNvSpPr txBox="1"/>
          <p:nvPr/>
        </p:nvSpPr>
        <p:spPr>
          <a:xfrm>
            <a:off x="731520" y="3108960"/>
            <a:ext cx="4937760" cy="1325880"/>
          </a:xfrm>
          <a:prstGeom prst="rect">
            <a:avLst/>
          </a:prstGeom>
          <a:noFill/>
          <a:ln/>
        </p:spPr>
        <p:txBody>
          <a:bodyPr wrap="square" lIns="0" tIns="0" rIns="0" bIns="0" rtlCol="0" anchor="t"/>
          <a:lstStyle/>
          <a:p>
            <a:pPr indent="0" marL="0">
              <a:buNone/>
            </a:pPr>
            <a:r>
              <a:rPr lang="en-US" sz="4000" dirty="0">
                <a:solidFill>
                  <a:srgbClr val="FFFFFF"/>
                </a:solidFill>
                <a:latin typeface="Georgia" pitchFamily="34" charset="0"/>
                <a:ea typeface="Georgia" pitchFamily="34" charset="-122"/>
                <a:cs typeface="Georgia" pitchFamily="34" charset="-120"/>
              </a:rPr>
              <a:t>Propuestas</a:t>
            </a:r>
            <a:endParaRPr lang="en-US" sz="4000" dirty="0"/>
          </a:p>
          <a:p>
            <a:pPr indent="0" marL="0">
              <a:buNone/>
            </a:pPr>
            <a:r>
              <a:rPr lang="en-US" sz="4000" dirty="0">
                <a:solidFill>
                  <a:srgbClr val="FFFFFF"/>
                </a:solidFill>
                <a:latin typeface="Georgia" pitchFamily="34" charset="0"/>
                <a:ea typeface="Georgia" pitchFamily="34" charset="-122"/>
                <a:cs typeface="Georgia" pitchFamily="34" charset="-120"/>
              </a:rPr>
              <a:t>de bolsa</a:t>
            </a:r>
            <a:endParaRPr lang="en-US" sz="4000" dirty="0"/>
          </a:p>
        </p:txBody>
      </p:sp>
      <p:sp>
        <p:nvSpPr>
          <p:cNvPr id="6" name="Text 1"/>
          <p:cNvSpPr txBox="1"/>
          <p:nvPr/>
        </p:nvSpPr>
        <p:spPr>
          <a:xfrm>
            <a:off x="731520" y="4572000"/>
            <a:ext cx="4937760" cy="457200"/>
          </a:xfrm>
          <a:prstGeom prst="rect">
            <a:avLst/>
          </a:prstGeom>
          <a:noFill/>
          <a:ln/>
        </p:spPr>
        <p:txBody>
          <a:bodyPr wrap="square" lIns="0" tIns="0" rIns="0" bIns="0" rtlCol="0" anchor="t"/>
          <a:lstStyle/>
          <a:p>
            <a:pPr indent="0" marL="0">
              <a:buNone/>
            </a:pPr>
            <a:r>
              <a:rPr lang="en-US" sz="2000" i="1" dirty="0">
                <a:solidFill>
                  <a:srgbClr val="A6A6A6"/>
                </a:solidFill>
                <a:latin typeface="Georgia" pitchFamily="34" charset="0"/>
                <a:ea typeface="Georgia" pitchFamily="34" charset="-122"/>
                <a:cs typeface="Georgia" pitchFamily="34" charset="-120"/>
              </a:rPr>
              <a:t>bendecidos para bendecir</a:t>
            </a:r>
            <a:endParaRPr lang="en-US" sz="2000" dirty="0"/>
          </a:p>
        </p:txBody>
      </p:sp>
      <p:sp>
        <p:nvSpPr>
          <p:cNvPr id="7" name="Text 2"/>
          <p:cNvSpPr txBox="1"/>
          <p:nvPr/>
        </p:nvSpPr>
        <p:spPr>
          <a:xfrm>
            <a:off x="731520" y="5989320"/>
            <a:ext cx="4937760" cy="274320"/>
          </a:xfrm>
          <a:prstGeom prst="rect">
            <a:avLst/>
          </a:prstGeom>
          <a:noFill/>
          <a:ln/>
        </p:spPr>
        <p:txBody>
          <a:bodyPr wrap="square" lIns="0" tIns="0" rIns="0" bIns="0" rtlCol="0" anchor="t"/>
          <a:lstStyle/>
          <a:p>
            <a:pPr indent="0" marL="0">
              <a:buNone/>
            </a:pPr>
            <a:r>
              <a:rPr lang="en-US" sz="1200" dirty="0">
                <a:solidFill>
                  <a:srgbClr val="8C8C8C"/>
                </a:solidFill>
                <a:latin typeface="Arial" pitchFamily="34" charset="0"/>
                <a:ea typeface="Arial" pitchFamily="34" charset="-122"/>
                <a:cs typeface="Arial" pitchFamily="34" charset="-120"/>
              </a:rPr>
              <a:t>10 ideas en negro y blanco · frente de 25 × 30 cm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lIns="0" tIns="0" rIns="0" bIns="0" rtlCol="0" anchor="t"/>
          <a:lstStyle/>
          <a:p>
            <a:pPr indent="0" marL="0">
              <a:buNone/>
            </a:pPr>
            <a:r>
              <a:rPr lang="en-US" sz="3600" dirty="0">
                <a:solidFill>
                  <a:srgbClr val="111111"/>
                </a:solidFill>
                <a:latin typeface="Georgia" pitchFamily="34" charset="0"/>
                <a:ea typeface="Georgia" pitchFamily="34" charset="-122"/>
                <a:cs typeface="Georgia" pitchFamily="34" charset="-120"/>
              </a:rPr>
              <a:t>Diez propuestas</a:t>
            </a:r>
            <a:endParaRPr lang="en-US" sz="3600" dirty="0"/>
          </a:p>
        </p:txBody>
      </p:sp>
      <p:sp>
        <p:nvSpPr>
          <p:cNvPr id="3" name="Text 1"/>
          <p:cNvSpPr txBox="1"/>
          <p:nvPr/>
        </p:nvSpPr>
        <p:spPr>
          <a:xfrm>
            <a:off x="548640" y="1024128"/>
            <a:ext cx="10058400" cy="32004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Todas en negro y blanco, con el nombre y el eslogan de la marca.</a:t>
            </a:r>
            <a:endParaRPr lang="en-US" sz="1400" dirty="0"/>
          </a:p>
        </p:txBody>
      </p:sp>
      <p:pic>
        <p:nvPicPr>
          <p:cNvPr id="4" name="Image 0" descr="Propuesta 01: Corona">    </p:cNvPr>
          <p:cNvPicPr>
            <a:picLocks noChangeAspect="1"/>
          </p:cNvPicPr>
          <p:nvPr/>
        </p:nvPicPr>
        <p:blipFill>
          <a:blip r:embed="rId1"/>
          <a:stretch>
            <a:fillRect/>
          </a:stretch>
        </p:blipFill>
        <p:spPr>
          <a:xfrm>
            <a:off x="1308964" y="1508760"/>
            <a:ext cx="1548994" cy="2011680"/>
          </a:xfrm>
          <a:prstGeom prst="rect">
            <a:avLst/>
          </a:prstGeom>
        </p:spPr>
      </p:pic>
      <p:sp>
        <p:nvSpPr>
          <p:cNvPr id="5" name="Text 2"/>
          <p:cNvSpPr txBox="1"/>
          <p:nvPr/>
        </p:nvSpPr>
        <p:spPr>
          <a:xfrm>
            <a:off x="1308964" y="3575304"/>
            <a:ext cx="1914754" cy="256032"/>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01  </a:t>
            </a:r>
            <a:pPr indent="0" marL="0">
              <a:buNone/>
            </a:pPr>
            <a:r>
              <a:rPr lang="en-US" sz="1100" dirty="0">
                <a:solidFill>
                  <a:srgbClr val="111111"/>
                </a:solidFill>
                <a:latin typeface="Arial" pitchFamily="34" charset="0"/>
                <a:ea typeface="Arial" pitchFamily="34" charset="-122"/>
                <a:cs typeface="Arial" pitchFamily="34" charset="-120"/>
              </a:rPr>
              <a:t>Corona</a:t>
            </a:r>
            <a:endParaRPr lang="en-US" sz="1100" dirty="0"/>
          </a:p>
        </p:txBody>
      </p:sp>
      <p:pic>
        <p:nvPicPr>
          <p:cNvPr id="6" name="Image 1" descr="Propuesta 02: Pantalla">    </p:cNvPr>
          <p:cNvPicPr>
            <a:picLocks noChangeAspect="1"/>
          </p:cNvPicPr>
          <p:nvPr/>
        </p:nvPicPr>
        <p:blipFill>
          <a:blip r:embed="rId2"/>
          <a:stretch>
            <a:fillRect/>
          </a:stretch>
        </p:blipFill>
        <p:spPr>
          <a:xfrm>
            <a:off x="3315157" y="1508760"/>
            <a:ext cx="1548994" cy="2011680"/>
          </a:xfrm>
          <a:prstGeom prst="rect">
            <a:avLst/>
          </a:prstGeom>
        </p:spPr>
      </p:pic>
      <p:sp>
        <p:nvSpPr>
          <p:cNvPr id="7" name="Text 3"/>
          <p:cNvSpPr txBox="1"/>
          <p:nvPr/>
        </p:nvSpPr>
        <p:spPr>
          <a:xfrm>
            <a:off x="3315157" y="3575304"/>
            <a:ext cx="1914754" cy="256032"/>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02  </a:t>
            </a:r>
            <a:pPr indent="0" marL="0">
              <a:buNone/>
            </a:pPr>
            <a:r>
              <a:rPr lang="en-US" sz="1100" dirty="0">
                <a:solidFill>
                  <a:srgbClr val="111111"/>
                </a:solidFill>
                <a:latin typeface="Arial" pitchFamily="34" charset="0"/>
                <a:ea typeface="Arial" pitchFamily="34" charset="-122"/>
                <a:cs typeface="Arial" pitchFamily="34" charset="-120"/>
              </a:rPr>
              <a:t>Pantalla</a:t>
            </a:r>
            <a:endParaRPr lang="en-US" sz="1100" dirty="0"/>
          </a:p>
        </p:txBody>
      </p:sp>
      <p:pic>
        <p:nvPicPr>
          <p:cNvPr id="8" name="Image 2" descr="Propuesta 03: Resplandor">    </p:cNvPr>
          <p:cNvPicPr>
            <a:picLocks noChangeAspect="1"/>
          </p:cNvPicPr>
          <p:nvPr/>
        </p:nvPicPr>
        <p:blipFill>
          <a:blip r:embed="rId3"/>
          <a:stretch>
            <a:fillRect/>
          </a:stretch>
        </p:blipFill>
        <p:spPr>
          <a:xfrm>
            <a:off x="5321351" y="1508760"/>
            <a:ext cx="1548994" cy="2011680"/>
          </a:xfrm>
          <a:prstGeom prst="rect">
            <a:avLst/>
          </a:prstGeom>
        </p:spPr>
      </p:pic>
      <p:sp>
        <p:nvSpPr>
          <p:cNvPr id="9" name="Text 4"/>
          <p:cNvSpPr txBox="1"/>
          <p:nvPr/>
        </p:nvSpPr>
        <p:spPr>
          <a:xfrm>
            <a:off x="5321351" y="3575304"/>
            <a:ext cx="1914754" cy="256032"/>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03  </a:t>
            </a:r>
            <a:pPr indent="0" marL="0">
              <a:buNone/>
            </a:pPr>
            <a:r>
              <a:rPr lang="en-US" sz="1100" dirty="0">
                <a:solidFill>
                  <a:srgbClr val="111111"/>
                </a:solidFill>
                <a:latin typeface="Arial" pitchFamily="34" charset="0"/>
                <a:ea typeface="Arial" pitchFamily="34" charset="-122"/>
                <a:cs typeface="Arial" pitchFamily="34" charset="-120"/>
              </a:rPr>
              <a:t>Resplandor</a:t>
            </a:r>
            <a:endParaRPr lang="en-US" sz="1100" dirty="0"/>
          </a:p>
        </p:txBody>
      </p:sp>
      <p:pic>
        <p:nvPicPr>
          <p:cNvPr id="10" name="Image 3" descr="Propuesta 04: Cruz en el celular">    </p:cNvPr>
          <p:cNvPicPr>
            <a:picLocks noChangeAspect="1"/>
          </p:cNvPicPr>
          <p:nvPr/>
        </p:nvPicPr>
        <p:blipFill>
          <a:blip r:embed="rId4"/>
          <a:stretch>
            <a:fillRect/>
          </a:stretch>
        </p:blipFill>
        <p:spPr>
          <a:xfrm>
            <a:off x="7327544" y="1508760"/>
            <a:ext cx="1548994" cy="2011680"/>
          </a:xfrm>
          <a:prstGeom prst="rect">
            <a:avLst/>
          </a:prstGeom>
        </p:spPr>
      </p:pic>
      <p:sp>
        <p:nvSpPr>
          <p:cNvPr id="11" name="Text 5"/>
          <p:cNvSpPr txBox="1"/>
          <p:nvPr/>
        </p:nvSpPr>
        <p:spPr>
          <a:xfrm>
            <a:off x="7327544" y="3575304"/>
            <a:ext cx="1914754" cy="256032"/>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04  </a:t>
            </a:r>
            <a:pPr indent="0" marL="0">
              <a:buNone/>
            </a:pPr>
            <a:r>
              <a:rPr lang="en-US" sz="1100" dirty="0">
                <a:solidFill>
                  <a:srgbClr val="111111"/>
                </a:solidFill>
                <a:latin typeface="Arial" pitchFamily="34" charset="0"/>
                <a:ea typeface="Arial" pitchFamily="34" charset="-122"/>
                <a:cs typeface="Arial" pitchFamily="34" charset="-120"/>
              </a:rPr>
              <a:t>Cruz en el celular</a:t>
            </a:r>
            <a:endParaRPr lang="en-US" sz="1100" dirty="0"/>
          </a:p>
        </p:txBody>
      </p:sp>
      <p:pic>
        <p:nvPicPr>
          <p:cNvPr id="12" name="Image 4" descr="Propuesta 05: Luz y sombra">    </p:cNvPr>
          <p:cNvPicPr>
            <a:picLocks noChangeAspect="1"/>
          </p:cNvPicPr>
          <p:nvPr/>
        </p:nvPicPr>
        <p:blipFill>
          <a:blip r:embed="rId5"/>
          <a:stretch>
            <a:fillRect/>
          </a:stretch>
        </p:blipFill>
        <p:spPr>
          <a:xfrm>
            <a:off x="9333738" y="1508760"/>
            <a:ext cx="1548994" cy="2011680"/>
          </a:xfrm>
          <a:prstGeom prst="rect">
            <a:avLst/>
          </a:prstGeom>
        </p:spPr>
      </p:pic>
      <p:sp>
        <p:nvSpPr>
          <p:cNvPr id="13" name="Text 6"/>
          <p:cNvSpPr txBox="1"/>
          <p:nvPr/>
        </p:nvSpPr>
        <p:spPr>
          <a:xfrm>
            <a:off x="9333738" y="3575304"/>
            <a:ext cx="1914754" cy="256032"/>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05  </a:t>
            </a:r>
            <a:pPr indent="0" marL="0">
              <a:buNone/>
            </a:pPr>
            <a:r>
              <a:rPr lang="en-US" sz="1100" dirty="0">
                <a:solidFill>
                  <a:srgbClr val="111111"/>
                </a:solidFill>
                <a:latin typeface="Arial" pitchFamily="34" charset="0"/>
                <a:ea typeface="Arial" pitchFamily="34" charset="-122"/>
                <a:cs typeface="Arial" pitchFamily="34" charset="-120"/>
              </a:rPr>
              <a:t>Luz y sombra</a:t>
            </a:r>
            <a:endParaRPr lang="en-US" sz="1100" dirty="0"/>
          </a:p>
        </p:txBody>
      </p:sp>
      <p:pic>
        <p:nvPicPr>
          <p:cNvPr id="14" name="Image 5" descr="Propuesta 06: Monograma">    </p:cNvPr>
          <p:cNvPicPr>
            <a:picLocks noChangeAspect="1"/>
          </p:cNvPicPr>
          <p:nvPr/>
        </p:nvPicPr>
        <p:blipFill>
          <a:blip r:embed="rId6"/>
          <a:stretch>
            <a:fillRect/>
          </a:stretch>
        </p:blipFill>
        <p:spPr>
          <a:xfrm>
            <a:off x="1308964" y="4069080"/>
            <a:ext cx="1548994" cy="2011680"/>
          </a:xfrm>
          <a:prstGeom prst="rect">
            <a:avLst/>
          </a:prstGeom>
        </p:spPr>
      </p:pic>
      <p:sp>
        <p:nvSpPr>
          <p:cNvPr id="15" name="Text 7"/>
          <p:cNvSpPr txBox="1"/>
          <p:nvPr/>
        </p:nvSpPr>
        <p:spPr>
          <a:xfrm>
            <a:off x="1308964" y="6135624"/>
            <a:ext cx="1914754" cy="256032"/>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06  </a:t>
            </a:r>
            <a:pPr indent="0" marL="0">
              <a:buNone/>
            </a:pPr>
            <a:r>
              <a:rPr lang="en-US" sz="1100" dirty="0">
                <a:solidFill>
                  <a:srgbClr val="111111"/>
                </a:solidFill>
                <a:latin typeface="Arial" pitchFamily="34" charset="0"/>
                <a:ea typeface="Arial" pitchFamily="34" charset="-122"/>
                <a:cs typeface="Arial" pitchFamily="34" charset="-120"/>
              </a:rPr>
              <a:t>Monograma</a:t>
            </a:r>
            <a:endParaRPr lang="en-US" sz="1100" dirty="0"/>
          </a:p>
        </p:txBody>
      </p:sp>
      <p:pic>
        <p:nvPicPr>
          <p:cNvPr id="16" name="Image 6" descr="Propuesta 07: Tipográfico">    </p:cNvPr>
          <p:cNvPicPr>
            <a:picLocks noChangeAspect="1"/>
          </p:cNvPicPr>
          <p:nvPr/>
        </p:nvPicPr>
        <p:blipFill>
          <a:blip r:embed="rId7"/>
          <a:stretch>
            <a:fillRect/>
          </a:stretch>
        </p:blipFill>
        <p:spPr>
          <a:xfrm>
            <a:off x="3315157" y="4069080"/>
            <a:ext cx="1548994" cy="2011680"/>
          </a:xfrm>
          <a:prstGeom prst="rect">
            <a:avLst/>
          </a:prstGeom>
        </p:spPr>
      </p:pic>
      <p:sp>
        <p:nvSpPr>
          <p:cNvPr id="17" name="Text 8"/>
          <p:cNvSpPr txBox="1"/>
          <p:nvPr/>
        </p:nvSpPr>
        <p:spPr>
          <a:xfrm>
            <a:off x="3315157" y="6135624"/>
            <a:ext cx="1914754" cy="256032"/>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07  </a:t>
            </a:r>
            <a:pPr indent="0" marL="0">
              <a:buNone/>
            </a:pPr>
            <a:r>
              <a:rPr lang="en-US" sz="1100" dirty="0">
                <a:solidFill>
                  <a:srgbClr val="111111"/>
                </a:solidFill>
                <a:latin typeface="Arial" pitchFamily="34" charset="0"/>
                <a:ea typeface="Arial" pitchFamily="34" charset="-122"/>
                <a:cs typeface="Arial" pitchFamily="34" charset="-120"/>
              </a:rPr>
              <a:t>Tipográfico</a:t>
            </a:r>
            <a:endParaRPr lang="en-US" sz="1100" dirty="0"/>
          </a:p>
        </p:txBody>
      </p:sp>
      <p:pic>
        <p:nvPicPr>
          <p:cNvPr id="18" name="Image 7" descr="Propuesta 08: Sello">    </p:cNvPr>
          <p:cNvPicPr>
            <a:picLocks noChangeAspect="1"/>
          </p:cNvPicPr>
          <p:nvPr/>
        </p:nvPicPr>
        <p:blipFill>
          <a:blip r:embed="rId8"/>
          <a:stretch>
            <a:fillRect/>
          </a:stretch>
        </p:blipFill>
        <p:spPr>
          <a:xfrm>
            <a:off x="5321351" y="4069080"/>
            <a:ext cx="1548994" cy="2011680"/>
          </a:xfrm>
          <a:prstGeom prst="rect">
            <a:avLst/>
          </a:prstGeom>
        </p:spPr>
      </p:pic>
      <p:sp>
        <p:nvSpPr>
          <p:cNvPr id="19" name="Text 9"/>
          <p:cNvSpPr txBox="1"/>
          <p:nvPr/>
        </p:nvSpPr>
        <p:spPr>
          <a:xfrm>
            <a:off x="5321351" y="6135624"/>
            <a:ext cx="1914754" cy="256032"/>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08  </a:t>
            </a:r>
            <a:pPr indent="0" marL="0">
              <a:buNone/>
            </a:pPr>
            <a:r>
              <a:rPr lang="en-US" sz="1100" dirty="0">
                <a:solidFill>
                  <a:srgbClr val="111111"/>
                </a:solidFill>
                <a:latin typeface="Arial" pitchFamily="34" charset="0"/>
                <a:ea typeface="Arial" pitchFamily="34" charset="-122"/>
                <a:cs typeface="Arial" pitchFamily="34" charset="-120"/>
              </a:rPr>
              <a:t>Sello</a:t>
            </a:r>
            <a:endParaRPr lang="en-US" sz="1100" dirty="0"/>
          </a:p>
        </p:txBody>
      </p:sp>
      <p:pic>
        <p:nvPicPr>
          <p:cNvPr id="20" name="Image 8" descr="Propuesta 09: Reverso">    </p:cNvPr>
          <p:cNvPicPr>
            <a:picLocks noChangeAspect="1"/>
          </p:cNvPicPr>
          <p:nvPr/>
        </p:nvPicPr>
        <p:blipFill>
          <a:blip r:embed="rId9"/>
          <a:stretch>
            <a:fillRect/>
          </a:stretch>
        </p:blipFill>
        <p:spPr>
          <a:xfrm>
            <a:off x="7327544" y="4069080"/>
            <a:ext cx="1548994" cy="2011680"/>
          </a:xfrm>
          <a:prstGeom prst="rect">
            <a:avLst/>
          </a:prstGeom>
        </p:spPr>
      </p:pic>
      <p:sp>
        <p:nvSpPr>
          <p:cNvPr id="21" name="Text 10"/>
          <p:cNvSpPr txBox="1"/>
          <p:nvPr/>
        </p:nvSpPr>
        <p:spPr>
          <a:xfrm>
            <a:off x="7327544" y="6135624"/>
            <a:ext cx="1914754" cy="256032"/>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09  </a:t>
            </a:r>
            <a:pPr indent="0" marL="0">
              <a:buNone/>
            </a:pPr>
            <a:r>
              <a:rPr lang="en-US" sz="1100" dirty="0">
                <a:solidFill>
                  <a:srgbClr val="111111"/>
                </a:solidFill>
                <a:latin typeface="Arial" pitchFamily="34" charset="0"/>
                <a:ea typeface="Arial" pitchFamily="34" charset="-122"/>
                <a:cs typeface="Arial" pitchFamily="34" charset="-120"/>
              </a:rPr>
              <a:t>Reverso</a:t>
            </a:r>
            <a:endParaRPr lang="en-US" sz="1100" dirty="0"/>
          </a:p>
        </p:txBody>
      </p:sp>
      <p:pic>
        <p:nvPicPr>
          <p:cNvPr id="22" name="Image 9" descr="Propuesta 10: Monograma claro">    </p:cNvPr>
          <p:cNvPicPr>
            <a:picLocks noChangeAspect="1"/>
          </p:cNvPicPr>
          <p:nvPr/>
        </p:nvPicPr>
        <p:blipFill>
          <a:blip r:embed="rId10"/>
          <a:stretch>
            <a:fillRect/>
          </a:stretch>
        </p:blipFill>
        <p:spPr>
          <a:xfrm>
            <a:off x="9333738" y="4069080"/>
            <a:ext cx="1548994" cy="2011680"/>
          </a:xfrm>
          <a:prstGeom prst="rect">
            <a:avLst/>
          </a:prstGeom>
        </p:spPr>
      </p:pic>
      <p:sp>
        <p:nvSpPr>
          <p:cNvPr id="23" name="Text 11"/>
          <p:cNvSpPr txBox="1"/>
          <p:nvPr/>
        </p:nvSpPr>
        <p:spPr>
          <a:xfrm>
            <a:off x="9333738" y="6135624"/>
            <a:ext cx="1914754" cy="256032"/>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10  </a:t>
            </a:r>
            <a:pPr indent="0" marL="0">
              <a:buNone/>
            </a:pPr>
            <a:r>
              <a:rPr lang="en-US" sz="1100" dirty="0">
                <a:solidFill>
                  <a:srgbClr val="111111"/>
                </a:solidFill>
                <a:latin typeface="Arial" pitchFamily="34" charset="0"/>
                <a:ea typeface="Arial" pitchFamily="34" charset="-122"/>
                <a:cs typeface="Arial" pitchFamily="34" charset="-120"/>
              </a:rPr>
              <a:t>Monograma claro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Bolsa de la propuesta Corona">    </p:cNvPr>
          <p:cNvPicPr>
            <a:picLocks noChangeAspect="1"/>
          </p:cNvPicPr>
          <p:nvPr/>
        </p:nvPicPr>
        <p:blipFill>
          <a:blip r:embed="rId1"/>
          <a:stretch>
            <a:fillRect/>
          </a:stretch>
        </p:blipFill>
        <p:spPr>
          <a:xfrm>
            <a:off x="0" y="0"/>
            <a:ext cx="6172200" cy="6858000"/>
          </a:xfrm>
          <a:prstGeom prst="rect">
            <a:avLst/>
          </a:prstGeom>
        </p:spPr>
      </p:pic>
      <p:sp>
        <p:nvSpPr>
          <p:cNvPr id="3" name="Text 0"/>
          <p:cNvSpPr txBox="1"/>
          <p:nvPr/>
        </p:nvSpPr>
        <p:spPr>
          <a:xfrm>
            <a:off x="6720840" y="640080"/>
            <a:ext cx="4922215" cy="274320"/>
          </a:xfrm>
          <a:prstGeom prst="rect">
            <a:avLst/>
          </a:prstGeom>
          <a:noFill/>
          <a:ln/>
        </p:spPr>
        <p:txBody>
          <a:bodyPr wrap="square" lIns="0" tIns="0" rIns="0" bIns="0" rtlCol="0" anchor="t"/>
          <a:lstStyle/>
          <a:p>
            <a:pPr indent="0" marL="0">
              <a:buNone/>
            </a:pPr>
            <a:r>
              <a:rPr lang="en-US" sz="1200" b="1" spc="300" kern="0" dirty="0">
                <a:solidFill>
                  <a:srgbClr val="6B6B6B"/>
                </a:solidFill>
                <a:latin typeface="Arial" pitchFamily="34" charset="0"/>
                <a:ea typeface="Arial" pitchFamily="34" charset="-122"/>
                <a:cs typeface="Arial" pitchFamily="34" charset="-120"/>
              </a:rPr>
              <a:t>PROPUESTA 01</a:t>
            </a:r>
            <a:endParaRPr lang="en-US" sz="1200" dirty="0"/>
          </a:p>
        </p:txBody>
      </p:sp>
      <p:sp>
        <p:nvSpPr>
          <p:cNvPr id="4" name="Text 1"/>
          <p:cNvSpPr txBox="1"/>
          <p:nvPr/>
        </p:nvSpPr>
        <p:spPr>
          <a:xfrm>
            <a:off x="6720840" y="932688"/>
            <a:ext cx="4922215" cy="731520"/>
          </a:xfrm>
          <a:prstGeom prst="rect">
            <a:avLst/>
          </a:prstGeom>
          <a:noFill/>
          <a:ln/>
        </p:spPr>
        <p:txBody>
          <a:bodyPr wrap="square" lIns="0" tIns="0" rIns="0" bIns="0" rtlCol="0" anchor="t"/>
          <a:lstStyle/>
          <a:p>
            <a:pPr indent="0" marL="0">
              <a:buNone/>
            </a:pPr>
            <a:r>
              <a:rPr lang="en-US" sz="3600" dirty="0">
                <a:solidFill>
                  <a:srgbClr val="111111"/>
                </a:solidFill>
                <a:latin typeface="Georgia" pitchFamily="34" charset="0"/>
                <a:ea typeface="Georgia" pitchFamily="34" charset="-122"/>
                <a:cs typeface="Georgia" pitchFamily="34" charset="-120"/>
              </a:rPr>
              <a:t>Corona</a:t>
            </a:r>
            <a:endParaRPr lang="en-US" sz="3600" dirty="0"/>
          </a:p>
        </p:txBody>
      </p:sp>
      <p:sp>
        <p:nvSpPr>
          <p:cNvPr id="5" name="Text 2"/>
          <p:cNvSpPr txBox="1"/>
          <p:nvPr/>
        </p:nvSpPr>
        <p:spPr>
          <a:xfrm>
            <a:off x="6720840" y="1828800"/>
            <a:ext cx="4922215" cy="1417320"/>
          </a:xfrm>
          <a:prstGeom prst="rect">
            <a:avLst/>
          </a:prstGeom>
          <a:noFill/>
          <a:ln/>
        </p:spPr>
        <p:txBody>
          <a:bodyPr wrap="square" lIns="0" tIns="0" rIns="0" bIns="0" rtlCol="0" anchor="t"/>
          <a:lstStyle/>
          <a:p>
            <a:pPr indent="0" marL="0">
              <a:lnSpc>
                <a:spcPct val="115000"/>
              </a:lnSpc>
              <a:buNone/>
            </a:pPr>
            <a:r>
              <a:rPr lang="en-US" sz="1500" dirty="0">
                <a:solidFill>
                  <a:srgbClr val="111111"/>
                </a:solidFill>
                <a:latin typeface="Arial" pitchFamily="34" charset="0"/>
                <a:ea typeface="Arial" pitchFamily="34" charset="-122"/>
                <a:cs typeface="Arial" pitchFamily="34" charset="-120"/>
              </a:rPr>
              <a:t>La idea original, depurada: queda solo la corona de espinas en relieve, rodeando el monograma. Se ve elegante, no le quita protagonismo al logo y el molde del relieve es pequeño.</a:t>
            </a:r>
            <a:endParaRPr lang="en-US" sz="1500" dirty="0"/>
          </a:p>
        </p:txBody>
      </p:sp>
      <p:pic>
        <p:nvPicPr>
          <p:cNvPr id="6" name="Image 1" descr="Arte del frente de la propuesta Corona">    </p:cNvPr>
          <p:cNvPicPr>
            <a:picLocks noChangeAspect="1"/>
          </p:cNvPicPr>
          <p:nvPr/>
        </p:nvPicPr>
        <p:blipFill>
          <a:blip r:embed="rId2"/>
          <a:stretch>
            <a:fillRect/>
          </a:stretch>
        </p:blipFill>
        <p:spPr>
          <a:xfrm>
            <a:off x="6720840" y="3520440"/>
            <a:ext cx="2057400" cy="2468880"/>
          </a:xfrm>
          <a:prstGeom prst="rect">
            <a:avLst/>
          </a:prstGeom>
        </p:spPr>
      </p:pic>
      <p:sp>
        <p:nvSpPr>
          <p:cNvPr id="7" name="Shape 3"/>
          <p:cNvSpPr/>
          <p:nvPr/>
        </p:nvSpPr>
        <p:spPr>
          <a:xfrm>
            <a:off x="6720840" y="3520440"/>
            <a:ext cx="2057400" cy="2468880"/>
          </a:xfrm>
          <a:prstGeom prst="rect">
            <a:avLst/>
          </a:prstGeom>
          <a:solidFill>
            <a:srgbClr val="FFFFFF">
              <a:alpha val="0"/>
            </a:srgbClr>
          </a:solidFill>
          <a:ln w="9525">
            <a:solidFill>
              <a:srgbClr val="D9D9D9"/>
            </a:solidFill>
            <a:prstDash val="solid"/>
          </a:ln>
        </p:spPr>
      </p:sp>
      <p:sp>
        <p:nvSpPr>
          <p:cNvPr id="8" name="Text 4"/>
          <p:cNvSpPr txBox="1"/>
          <p:nvPr/>
        </p:nvSpPr>
        <p:spPr>
          <a:xfrm>
            <a:off x="6720840" y="6062472"/>
            <a:ext cx="2514600" cy="256032"/>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Arte del frente · 25 × 30 cm</a:t>
            </a:r>
            <a:endParaRPr lang="en-US" sz="1000" dirty="0"/>
          </a:p>
        </p:txBody>
      </p:sp>
      <p:sp>
        <p:nvSpPr>
          <p:cNvPr id="9" name="Text 5"/>
          <p:cNvSpPr txBox="1"/>
          <p:nvPr/>
        </p:nvSpPr>
        <p:spPr>
          <a:xfrm>
            <a:off x="9144000" y="3520440"/>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BOLSA</a:t>
            </a:r>
            <a:endParaRPr lang="en-US" sz="1000" dirty="0"/>
          </a:p>
        </p:txBody>
      </p:sp>
      <p:sp>
        <p:nvSpPr>
          <p:cNvPr id="10" name="Text 6"/>
          <p:cNvSpPr txBox="1"/>
          <p:nvPr/>
        </p:nvSpPr>
        <p:spPr>
          <a:xfrm>
            <a:off x="9144000" y="3767328"/>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Blanca</a:t>
            </a:r>
            <a:endParaRPr lang="en-US" sz="1300" dirty="0"/>
          </a:p>
        </p:txBody>
      </p:sp>
      <p:sp>
        <p:nvSpPr>
          <p:cNvPr id="11" name="Text 7"/>
          <p:cNvSpPr txBox="1"/>
          <p:nvPr/>
        </p:nvSpPr>
        <p:spPr>
          <a:xfrm>
            <a:off x="9144000" y="4416552"/>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IMPRESIÓN</a:t>
            </a:r>
            <a:endParaRPr lang="en-US" sz="1000" dirty="0"/>
          </a:p>
        </p:txBody>
      </p:sp>
      <p:sp>
        <p:nvSpPr>
          <p:cNvPr id="12" name="Text 8"/>
          <p:cNvSpPr txBox="1"/>
          <p:nvPr/>
        </p:nvSpPr>
        <p:spPr>
          <a:xfrm>
            <a:off x="9144000" y="4663440"/>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Relieve seco en la corona y logo en negro mate</a:t>
            </a:r>
            <a:endParaRPr lang="en-US" sz="1300" dirty="0"/>
          </a:p>
        </p:txBody>
      </p:sp>
      <p:sp>
        <p:nvSpPr>
          <p:cNvPr id="13" name="Text 9"/>
          <p:cNvSpPr txBox="1"/>
          <p:nvPr/>
        </p:nvSpPr>
        <p:spPr>
          <a:xfrm>
            <a:off x="9144000" y="5312664"/>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MANIJAS</a:t>
            </a:r>
            <a:endParaRPr lang="en-US" sz="1000" dirty="0"/>
          </a:p>
        </p:txBody>
      </p:sp>
      <p:sp>
        <p:nvSpPr>
          <p:cNvPr id="14" name="Text 10"/>
          <p:cNvSpPr txBox="1"/>
          <p:nvPr/>
        </p:nvSpPr>
        <p:spPr>
          <a:xfrm>
            <a:off x="9144000" y="5559552"/>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Cordón negro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pic>
        <p:nvPicPr>
          <p:cNvPr id="2" name="Image 0" descr="Bolsa de la propuesta Pantalla">    </p:cNvPr>
          <p:cNvPicPr>
            <a:picLocks noChangeAspect="1"/>
          </p:cNvPicPr>
          <p:nvPr/>
        </p:nvPicPr>
        <p:blipFill>
          <a:blip r:embed="rId1"/>
          <a:stretch>
            <a:fillRect/>
          </a:stretch>
        </p:blipFill>
        <p:spPr>
          <a:xfrm>
            <a:off x="6019495" y="0"/>
            <a:ext cx="6172200" cy="6858000"/>
          </a:xfrm>
          <a:prstGeom prst="rect">
            <a:avLst/>
          </a:prstGeom>
        </p:spPr>
      </p:pic>
      <p:sp>
        <p:nvSpPr>
          <p:cNvPr id="3" name="Text 0"/>
          <p:cNvSpPr txBox="1"/>
          <p:nvPr/>
        </p:nvSpPr>
        <p:spPr>
          <a:xfrm>
            <a:off x="548640" y="640080"/>
            <a:ext cx="4922215" cy="274320"/>
          </a:xfrm>
          <a:prstGeom prst="rect">
            <a:avLst/>
          </a:prstGeom>
          <a:noFill/>
          <a:ln/>
        </p:spPr>
        <p:txBody>
          <a:bodyPr wrap="square" lIns="0" tIns="0" rIns="0" bIns="0" rtlCol="0" anchor="t"/>
          <a:lstStyle/>
          <a:p>
            <a:pPr indent="0" marL="0">
              <a:buNone/>
            </a:pPr>
            <a:r>
              <a:rPr lang="en-US" sz="1200" b="1" spc="300" kern="0" dirty="0">
                <a:solidFill>
                  <a:srgbClr val="A6A6A6"/>
                </a:solidFill>
                <a:latin typeface="Arial" pitchFamily="34" charset="0"/>
                <a:ea typeface="Arial" pitchFamily="34" charset="-122"/>
                <a:cs typeface="Arial" pitchFamily="34" charset="-120"/>
              </a:rPr>
              <a:t>PROPUESTA 02</a:t>
            </a:r>
            <a:endParaRPr lang="en-US" sz="1200" dirty="0"/>
          </a:p>
        </p:txBody>
      </p:sp>
      <p:sp>
        <p:nvSpPr>
          <p:cNvPr id="4" name="Text 1"/>
          <p:cNvSpPr txBox="1"/>
          <p:nvPr/>
        </p:nvSpPr>
        <p:spPr>
          <a:xfrm>
            <a:off x="548640" y="932688"/>
            <a:ext cx="4922215" cy="731520"/>
          </a:xfrm>
          <a:prstGeom prst="rect">
            <a:avLst/>
          </a:prstGeom>
          <a:noFill/>
          <a:ln/>
        </p:spPr>
        <p:txBody>
          <a:bodyPr wrap="square" lIns="0" tIns="0" rIns="0" bIns="0" rtlCol="0" anchor="t"/>
          <a:lstStyle/>
          <a:p>
            <a:pPr indent="0" marL="0">
              <a:buNone/>
            </a:pPr>
            <a:r>
              <a:rPr lang="en-US" sz="3600" dirty="0">
                <a:solidFill>
                  <a:srgbClr val="FFFFFF"/>
                </a:solidFill>
                <a:latin typeface="Georgia" pitchFamily="34" charset="0"/>
                <a:ea typeface="Georgia" pitchFamily="34" charset="-122"/>
                <a:cs typeface="Georgia" pitchFamily="34" charset="-120"/>
              </a:rPr>
              <a:t>Pantalla</a:t>
            </a:r>
            <a:endParaRPr lang="en-US" sz="3600" dirty="0"/>
          </a:p>
        </p:txBody>
      </p:sp>
      <p:sp>
        <p:nvSpPr>
          <p:cNvPr id="5" name="Text 2"/>
          <p:cNvSpPr txBox="1"/>
          <p:nvPr/>
        </p:nvSpPr>
        <p:spPr>
          <a:xfrm>
            <a:off x="548640" y="1828800"/>
            <a:ext cx="4922215" cy="1417320"/>
          </a:xfrm>
          <a:prstGeom prst="rect">
            <a:avLst/>
          </a:prstGeom>
          <a:noFill/>
          <a:ln/>
        </p:spPr>
        <p:txBody>
          <a:bodyPr wrap="square" lIns="0" tIns="0" rIns="0" bIns="0" rtlCol="0" anchor="t"/>
          <a:lstStyle/>
          <a:p>
            <a:pPr indent="0" marL="0">
              <a:lnSpc>
                <a:spcPct val="115000"/>
              </a:lnSpc>
              <a:buNone/>
            </a:pPr>
            <a:r>
              <a:rPr lang="en-US" sz="1500" dirty="0">
                <a:solidFill>
                  <a:srgbClr val="FFFFFF"/>
                </a:solidFill>
                <a:latin typeface="Arial" pitchFamily="34" charset="0"/>
                <a:ea typeface="Arial" pitchFamily="34" charset="-122"/>
                <a:cs typeface="Arial" pitchFamily="34" charset="-120"/>
              </a:rPr>
              <a:t>La bolsa es un celular bloqueado: el monograma hace de reloj, el eslogan de fecha, llega una notificación de JDCEL y WhatsApp e Instagram son los botones.</a:t>
            </a:r>
            <a:endParaRPr lang="en-US" sz="1500" dirty="0"/>
          </a:p>
        </p:txBody>
      </p:sp>
      <p:pic>
        <p:nvPicPr>
          <p:cNvPr id="6" name="Image 1" descr="Arte del frente de la propuesta Pantalla">    </p:cNvPr>
          <p:cNvPicPr>
            <a:picLocks noChangeAspect="1"/>
          </p:cNvPicPr>
          <p:nvPr/>
        </p:nvPicPr>
        <p:blipFill>
          <a:blip r:embed="rId2"/>
          <a:stretch>
            <a:fillRect/>
          </a:stretch>
        </p:blipFill>
        <p:spPr>
          <a:xfrm>
            <a:off x="548640" y="3520440"/>
            <a:ext cx="2057400" cy="2468880"/>
          </a:xfrm>
          <a:prstGeom prst="rect">
            <a:avLst/>
          </a:prstGeom>
        </p:spPr>
      </p:pic>
      <p:sp>
        <p:nvSpPr>
          <p:cNvPr id="7" name="Shape 3"/>
          <p:cNvSpPr/>
          <p:nvPr/>
        </p:nvSpPr>
        <p:spPr>
          <a:xfrm>
            <a:off x="548640" y="3520440"/>
            <a:ext cx="2057400" cy="2468880"/>
          </a:xfrm>
          <a:prstGeom prst="rect">
            <a:avLst/>
          </a:prstGeom>
          <a:solidFill>
            <a:srgbClr val="FFFFFF">
              <a:alpha val="0"/>
            </a:srgbClr>
          </a:solidFill>
          <a:ln w="9525">
            <a:solidFill>
              <a:srgbClr val="3A3A3A"/>
            </a:solidFill>
            <a:prstDash val="solid"/>
          </a:ln>
        </p:spPr>
      </p:sp>
      <p:sp>
        <p:nvSpPr>
          <p:cNvPr id="8" name="Text 4"/>
          <p:cNvSpPr txBox="1"/>
          <p:nvPr/>
        </p:nvSpPr>
        <p:spPr>
          <a:xfrm>
            <a:off x="548640" y="6062472"/>
            <a:ext cx="2514600" cy="256032"/>
          </a:xfrm>
          <a:prstGeom prst="rect">
            <a:avLst/>
          </a:prstGeom>
          <a:noFill/>
          <a:ln/>
        </p:spPr>
        <p:txBody>
          <a:bodyPr wrap="square" lIns="0" tIns="0" rIns="0" bIns="0" rtlCol="0" anchor="t"/>
          <a:lstStyle/>
          <a:p>
            <a:pPr indent="0" marL="0">
              <a:buNone/>
            </a:pPr>
            <a:r>
              <a:rPr lang="en-US" sz="1000" dirty="0">
                <a:solidFill>
                  <a:srgbClr val="A6A6A6"/>
                </a:solidFill>
                <a:latin typeface="Arial" pitchFamily="34" charset="0"/>
                <a:ea typeface="Arial" pitchFamily="34" charset="-122"/>
                <a:cs typeface="Arial" pitchFamily="34" charset="-120"/>
              </a:rPr>
              <a:t>Arte del frente · 25 × 30 cm</a:t>
            </a:r>
            <a:endParaRPr lang="en-US" sz="1000" dirty="0"/>
          </a:p>
        </p:txBody>
      </p:sp>
      <p:sp>
        <p:nvSpPr>
          <p:cNvPr id="9" name="Text 5"/>
          <p:cNvSpPr txBox="1"/>
          <p:nvPr/>
        </p:nvSpPr>
        <p:spPr>
          <a:xfrm>
            <a:off x="2971800" y="3520440"/>
            <a:ext cx="2499055" cy="228600"/>
          </a:xfrm>
          <a:prstGeom prst="rect">
            <a:avLst/>
          </a:prstGeom>
          <a:noFill/>
          <a:ln/>
        </p:spPr>
        <p:txBody>
          <a:bodyPr wrap="square" lIns="0" tIns="0" rIns="0" bIns="0" rtlCol="0" anchor="t"/>
          <a:lstStyle/>
          <a:p>
            <a:pPr indent="0" marL="0">
              <a:buNone/>
            </a:pPr>
            <a:r>
              <a:rPr lang="en-US" sz="1000" b="1" spc="150" kern="0" dirty="0">
                <a:solidFill>
                  <a:srgbClr val="A6A6A6"/>
                </a:solidFill>
                <a:latin typeface="Arial" pitchFamily="34" charset="0"/>
                <a:ea typeface="Arial" pitchFamily="34" charset="-122"/>
                <a:cs typeface="Arial" pitchFamily="34" charset="-120"/>
              </a:rPr>
              <a:t>BOLSA</a:t>
            </a:r>
            <a:endParaRPr lang="en-US" sz="1000" dirty="0"/>
          </a:p>
        </p:txBody>
      </p:sp>
      <p:sp>
        <p:nvSpPr>
          <p:cNvPr id="10" name="Text 6"/>
          <p:cNvSpPr txBox="1"/>
          <p:nvPr/>
        </p:nvSpPr>
        <p:spPr>
          <a:xfrm>
            <a:off x="2971800" y="3767328"/>
            <a:ext cx="2499055" cy="566928"/>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Negra</a:t>
            </a:r>
            <a:endParaRPr lang="en-US" sz="1300" dirty="0"/>
          </a:p>
        </p:txBody>
      </p:sp>
      <p:sp>
        <p:nvSpPr>
          <p:cNvPr id="11" name="Text 7"/>
          <p:cNvSpPr txBox="1"/>
          <p:nvPr/>
        </p:nvSpPr>
        <p:spPr>
          <a:xfrm>
            <a:off x="2971800" y="4416552"/>
            <a:ext cx="2499055" cy="228600"/>
          </a:xfrm>
          <a:prstGeom prst="rect">
            <a:avLst/>
          </a:prstGeom>
          <a:noFill/>
          <a:ln/>
        </p:spPr>
        <p:txBody>
          <a:bodyPr wrap="square" lIns="0" tIns="0" rIns="0" bIns="0" rtlCol="0" anchor="t"/>
          <a:lstStyle/>
          <a:p>
            <a:pPr indent="0" marL="0">
              <a:buNone/>
            </a:pPr>
            <a:r>
              <a:rPr lang="en-US" sz="1000" b="1" spc="150" kern="0" dirty="0">
                <a:solidFill>
                  <a:srgbClr val="A6A6A6"/>
                </a:solidFill>
                <a:latin typeface="Arial" pitchFamily="34" charset="0"/>
                <a:ea typeface="Arial" pitchFamily="34" charset="-122"/>
                <a:cs typeface="Arial" pitchFamily="34" charset="-120"/>
              </a:rPr>
              <a:t>IMPRESIÓN</a:t>
            </a:r>
            <a:endParaRPr lang="en-US" sz="1000" dirty="0"/>
          </a:p>
        </p:txBody>
      </p:sp>
      <p:sp>
        <p:nvSpPr>
          <p:cNvPr id="12" name="Text 8"/>
          <p:cNvSpPr txBox="1"/>
          <p:nvPr/>
        </p:nvSpPr>
        <p:spPr>
          <a:xfrm>
            <a:off x="2971800" y="4663440"/>
            <a:ext cx="2499055" cy="566928"/>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Blanco: serigrafía o hot stamping</a:t>
            </a:r>
            <a:endParaRPr lang="en-US" sz="1300" dirty="0"/>
          </a:p>
        </p:txBody>
      </p:sp>
      <p:sp>
        <p:nvSpPr>
          <p:cNvPr id="13" name="Text 9"/>
          <p:cNvSpPr txBox="1"/>
          <p:nvPr/>
        </p:nvSpPr>
        <p:spPr>
          <a:xfrm>
            <a:off x="2971800" y="5312664"/>
            <a:ext cx="2499055" cy="228600"/>
          </a:xfrm>
          <a:prstGeom prst="rect">
            <a:avLst/>
          </a:prstGeom>
          <a:noFill/>
          <a:ln/>
        </p:spPr>
        <p:txBody>
          <a:bodyPr wrap="square" lIns="0" tIns="0" rIns="0" bIns="0" rtlCol="0" anchor="t"/>
          <a:lstStyle/>
          <a:p>
            <a:pPr indent="0" marL="0">
              <a:buNone/>
            </a:pPr>
            <a:r>
              <a:rPr lang="en-US" sz="1000" b="1" spc="150" kern="0" dirty="0">
                <a:solidFill>
                  <a:srgbClr val="A6A6A6"/>
                </a:solidFill>
                <a:latin typeface="Arial" pitchFamily="34" charset="0"/>
                <a:ea typeface="Arial" pitchFamily="34" charset="-122"/>
                <a:cs typeface="Arial" pitchFamily="34" charset="-120"/>
              </a:rPr>
              <a:t>MANIJAS</a:t>
            </a:r>
            <a:endParaRPr lang="en-US" sz="1000" dirty="0"/>
          </a:p>
        </p:txBody>
      </p:sp>
      <p:sp>
        <p:nvSpPr>
          <p:cNvPr id="14" name="Text 10"/>
          <p:cNvSpPr txBox="1"/>
          <p:nvPr/>
        </p:nvSpPr>
        <p:spPr>
          <a:xfrm>
            <a:off x="2971800" y="5559552"/>
            <a:ext cx="2499055" cy="566928"/>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Cordón blanco, como un cable de cargador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Bolsa de la propuesta Resplandor">    </p:cNvPr>
          <p:cNvPicPr>
            <a:picLocks noChangeAspect="1"/>
          </p:cNvPicPr>
          <p:nvPr/>
        </p:nvPicPr>
        <p:blipFill>
          <a:blip r:embed="rId1"/>
          <a:stretch>
            <a:fillRect/>
          </a:stretch>
        </p:blipFill>
        <p:spPr>
          <a:xfrm>
            <a:off x="0" y="0"/>
            <a:ext cx="6172200" cy="6858000"/>
          </a:xfrm>
          <a:prstGeom prst="rect">
            <a:avLst/>
          </a:prstGeom>
        </p:spPr>
      </p:pic>
      <p:sp>
        <p:nvSpPr>
          <p:cNvPr id="3" name="Text 0"/>
          <p:cNvSpPr txBox="1"/>
          <p:nvPr/>
        </p:nvSpPr>
        <p:spPr>
          <a:xfrm>
            <a:off x="6720840" y="640080"/>
            <a:ext cx="4922215" cy="274320"/>
          </a:xfrm>
          <a:prstGeom prst="rect">
            <a:avLst/>
          </a:prstGeom>
          <a:noFill/>
          <a:ln/>
        </p:spPr>
        <p:txBody>
          <a:bodyPr wrap="square" lIns="0" tIns="0" rIns="0" bIns="0" rtlCol="0" anchor="t"/>
          <a:lstStyle/>
          <a:p>
            <a:pPr indent="0" marL="0">
              <a:buNone/>
            </a:pPr>
            <a:r>
              <a:rPr lang="en-US" sz="1200" b="1" spc="300" kern="0" dirty="0">
                <a:solidFill>
                  <a:srgbClr val="6B6B6B"/>
                </a:solidFill>
                <a:latin typeface="Arial" pitchFamily="34" charset="0"/>
                <a:ea typeface="Arial" pitchFamily="34" charset="-122"/>
                <a:cs typeface="Arial" pitchFamily="34" charset="-120"/>
              </a:rPr>
              <a:t>PROPUESTA 03</a:t>
            </a:r>
            <a:endParaRPr lang="en-US" sz="1200" dirty="0"/>
          </a:p>
        </p:txBody>
      </p:sp>
      <p:sp>
        <p:nvSpPr>
          <p:cNvPr id="4" name="Text 1"/>
          <p:cNvSpPr txBox="1"/>
          <p:nvPr/>
        </p:nvSpPr>
        <p:spPr>
          <a:xfrm>
            <a:off x="6720840" y="932688"/>
            <a:ext cx="4922215" cy="731520"/>
          </a:xfrm>
          <a:prstGeom prst="rect">
            <a:avLst/>
          </a:prstGeom>
          <a:noFill/>
          <a:ln/>
        </p:spPr>
        <p:txBody>
          <a:bodyPr wrap="square" lIns="0" tIns="0" rIns="0" bIns="0" rtlCol="0" anchor="t"/>
          <a:lstStyle/>
          <a:p>
            <a:pPr indent="0" marL="0">
              <a:buNone/>
            </a:pPr>
            <a:r>
              <a:rPr lang="en-US" sz="3600" dirty="0">
                <a:solidFill>
                  <a:srgbClr val="111111"/>
                </a:solidFill>
                <a:latin typeface="Georgia" pitchFamily="34" charset="0"/>
                <a:ea typeface="Georgia" pitchFamily="34" charset="-122"/>
                <a:cs typeface="Georgia" pitchFamily="34" charset="-120"/>
              </a:rPr>
              <a:t>Resplandor</a:t>
            </a:r>
            <a:endParaRPr lang="en-US" sz="3600" dirty="0"/>
          </a:p>
        </p:txBody>
      </p:sp>
      <p:sp>
        <p:nvSpPr>
          <p:cNvPr id="5" name="Text 2"/>
          <p:cNvSpPr txBox="1"/>
          <p:nvPr/>
        </p:nvSpPr>
        <p:spPr>
          <a:xfrm>
            <a:off x="6720840" y="1828800"/>
            <a:ext cx="4922215" cy="1417320"/>
          </a:xfrm>
          <a:prstGeom prst="rect">
            <a:avLst/>
          </a:prstGeom>
          <a:noFill/>
          <a:ln/>
        </p:spPr>
        <p:txBody>
          <a:bodyPr wrap="square" lIns="0" tIns="0" rIns="0" bIns="0" rtlCol="0" anchor="t"/>
          <a:lstStyle/>
          <a:p>
            <a:pPr indent="0" marL="0">
              <a:lnSpc>
                <a:spcPct val="115000"/>
              </a:lnSpc>
              <a:buNone/>
            </a:pPr>
            <a:r>
              <a:rPr lang="en-US" sz="1500" dirty="0">
                <a:solidFill>
                  <a:srgbClr val="111111"/>
                </a:solidFill>
                <a:latin typeface="Arial" pitchFamily="34" charset="0"/>
                <a:ea typeface="Arial" pitchFamily="34" charset="-122"/>
                <a:cs typeface="Arial" pitchFamily="34" charset="-120"/>
              </a:rPr>
              <a:t>Rayos alrededor del monograma que se leen como luz y como señal. Es la más económica de imprimir y la que mejor se reconoce de lejos.</a:t>
            </a:r>
            <a:endParaRPr lang="en-US" sz="1500" dirty="0"/>
          </a:p>
        </p:txBody>
      </p:sp>
      <p:pic>
        <p:nvPicPr>
          <p:cNvPr id="6" name="Image 1" descr="Arte del frente de la propuesta Resplandor">    </p:cNvPr>
          <p:cNvPicPr>
            <a:picLocks noChangeAspect="1"/>
          </p:cNvPicPr>
          <p:nvPr/>
        </p:nvPicPr>
        <p:blipFill>
          <a:blip r:embed="rId2"/>
          <a:stretch>
            <a:fillRect/>
          </a:stretch>
        </p:blipFill>
        <p:spPr>
          <a:xfrm>
            <a:off x="6720840" y="3520440"/>
            <a:ext cx="2057400" cy="2468880"/>
          </a:xfrm>
          <a:prstGeom prst="rect">
            <a:avLst/>
          </a:prstGeom>
        </p:spPr>
      </p:pic>
      <p:sp>
        <p:nvSpPr>
          <p:cNvPr id="7" name="Shape 3"/>
          <p:cNvSpPr/>
          <p:nvPr/>
        </p:nvSpPr>
        <p:spPr>
          <a:xfrm>
            <a:off x="6720840" y="3520440"/>
            <a:ext cx="2057400" cy="2468880"/>
          </a:xfrm>
          <a:prstGeom prst="rect">
            <a:avLst/>
          </a:prstGeom>
          <a:solidFill>
            <a:srgbClr val="FFFFFF">
              <a:alpha val="0"/>
            </a:srgbClr>
          </a:solidFill>
          <a:ln w="9525">
            <a:solidFill>
              <a:srgbClr val="D9D9D9"/>
            </a:solidFill>
            <a:prstDash val="solid"/>
          </a:ln>
        </p:spPr>
      </p:sp>
      <p:sp>
        <p:nvSpPr>
          <p:cNvPr id="8" name="Text 4"/>
          <p:cNvSpPr txBox="1"/>
          <p:nvPr/>
        </p:nvSpPr>
        <p:spPr>
          <a:xfrm>
            <a:off x="6720840" y="6062472"/>
            <a:ext cx="2514600" cy="256032"/>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Arte del frente · 25 × 30 cm</a:t>
            </a:r>
            <a:endParaRPr lang="en-US" sz="1000" dirty="0"/>
          </a:p>
        </p:txBody>
      </p:sp>
      <p:sp>
        <p:nvSpPr>
          <p:cNvPr id="9" name="Text 5"/>
          <p:cNvSpPr txBox="1"/>
          <p:nvPr/>
        </p:nvSpPr>
        <p:spPr>
          <a:xfrm>
            <a:off x="9144000" y="3520440"/>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BOLSA</a:t>
            </a:r>
            <a:endParaRPr lang="en-US" sz="1000" dirty="0"/>
          </a:p>
        </p:txBody>
      </p:sp>
      <p:sp>
        <p:nvSpPr>
          <p:cNvPr id="10" name="Text 6"/>
          <p:cNvSpPr txBox="1"/>
          <p:nvPr/>
        </p:nvSpPr>
        <p:spPr>
          <a:xfrm>
            <a:off x="9144000" y="3767328"/>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Blanca</a:t>
            </a:r>
            <a:endParaRPr lang="en-US" sz="1300" dirty="0"/>
          </a:p>
        </p:txBody>
      </p:sp>
      <p:sp>
        <p:nvSpPr>
          <p:cNvPr id="11" name="Text 7"/>
          <p:cNvSpPr txBox="1"/>
          <p:nvPr/>
        </p:nvSpPr>
        <p:spPr>
          <a:xfrm>
            <a:off x="9144000" y="4416552"/>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IMPRESIÓN</a:t>
            </a:r>
            <a:endParaRPr lang="en-US" sz="1000" dirty="0"/>
          </a:p>
        </p:txBody>
      </p:sp>
      <p:sp>
        <p:nvSpPr>
          <p:cNvPr id="12" name="Text 8"/>
          <p:cNvSpPr txBox="1"/>
          <p:nvPr/>
        </p:nvSpPr>
        <p:spPr>
          <a:xfrm>
            <a:off x="9144000" y="4663440"/>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Una tinta negra</a:t>
            </a:r>
            <a:endParaRPr lang="en-US" sz="1300" dirty="0"/>
          </a:p>
        </p:txBody>
      </p:sp>
      <p:sp>
        <p:nvSpPr>
          <p:cNvPr id="13" name="Text 9"/>
          <p:cNvSpPr txBox="1"/>
          <p:nvPr/>
        </p:nvSpPr>
        <p:spPr>
          <a:xfrm>
            <a:off x="9144000" y="5312664"/>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MANIJAS</a:t>
            </a:r>
            <a:endParaRPr lang="en-US" sz="1000" dirty="0"/>
          </a:p>
        </p:txBody>
      </p:sp>
      <p:sp>
        <p:nvSpPr>
          <p:cNvPr id="14" name="Text 10"/>
          <p:cNvSpPr txBox="1"/>
          <p:nvPr/>
        </p:nvSpPr>
        <p:spPr>
          <a:xfrm>
            <a:off x="9144000" y="5559552"/>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Cordón negro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Bolsa de la propuesta Cruz en el celular">    </p:cNvPr>
          <p:cNvPicPr>
            <a:picLocks noChangeAspect="1"/>
          </p:cNvPicPr>
          <p:nvPr/>
        </p:nvPicPr>
        <p:blipFill>
          <a:blip r:embed="rId1"/>
          <a:stretch>
            <a:fillRect/>
          </a:stretch>
        </p:blipFill>
        <p:spPr>
          <a:xfrm>
            <a:off x="6019495" y="0"/>
            <a:ext cx="6172200" cy="6858000"/>
          </a:xfrm>
          <a:prstGeom prst="rect">
            <a:avLst/>
          </a:prstGeom>
        </p:spPr>
      </p:pic>
      <p:sp>
        <p:nvSpPr>
          <p:cNvPr id="3" name="Text 0"/>
          <p:cNvSpPr txBox="1"/>
          <p:nvPr/>
        </p:nvSpPr>
        <p:spPr>
          <a:xfrm>
            <a:off x="548640" y="640080"/>
            <a:ext cx="4922215" cy="274320"/>
          </a:xfrm>
          <a:prstGeom prst="rect">
            <a:avLst/>
          </a:prstGeom>
          <a:noFill/>
          <a:ln/>
        </p:spPr>
        <p:txBody>
          <a:bodyPr wrap="square" lIns="0" tIns="0" rIns="0" bIns="0" rtlCol="0" anchor="t"/>
          <a:lstStyle/>
          <a:p>
            <a:pPr indent="0" marL="0">
              <a:buNone/>
            </a:pPr>
            <a:r>
              <a:rPr lang="en-US" sz="1200" b="1" spc="300" kern="0" dirty="0">
                <a:solidFill>
                  <a:srgbClr val="6B6B6B"/>
                </a:solidFill>
                <a:latin typeface="Arial" pitchFamily="34" charset="0"/>
                <a:ea typeface="Arial" pitchFamily="34" charset="-122"/>
                <a:cs typeface="Arial" pitchFamily="34" charset="-120"/>
              </a:rPr>
              <a:t>PROPUESTA 04</a:t>
            </a:r>
            <a:endParaRPr lang="en-US" sz="1200" dirty="0"/>
          </a:p>
        </p:txBody>
      </p:sp>
      <p:sp>
        <p:nvSpPr>
          <p:cNvPr id="4" name="Text 1"/>
          <p:cNvSpPr txBox="1"/>
          <p:nvPr/>
        </p:nvSpPr>
        <p:spPr>
          <a:xfrm>
            <a:off x="548640" y="932688"/>
            <a:ext cx="4922215" cy="731520"/>
          </a:xfrm>
          <a:prstGeom prst="rect">
            <a:avLst/>
          </a:prstGeom>
          <a:noFill/>
          <a:ln/>
        </p:spPr>
        <p:txBody>
          <a:bodyPr wrap="square" lIns="0" tIns="0" rIns="0" bIns="0" rtlCol="0" anchor="t"/>
          <a:lstStyle/>
          <a:p>
            <a:pPr indent="0" marL="0">
              <a:buNone/>
            </a:pPr>
            <a:r>
              <a:rPr lang="en-US" sz="3600" dirty="0">
                <a:solidFill>
                  <a:srgbClr val="111111"/>
                </a:solidFill>
                <a:latin typeface="Georgia" pitchFamily="34" charset="0"/>
                <a:ea typeface="Georgia" pitchFamily="34" charset="-122"/>
                <a:cs typeface="Georgia" pitchFamily="34" charset="-120"/>
              </a:rPr>
              <a:t>Cruz en el celular</a:t>
            </a:r>
            <a:endParaRPr lang="en-US" sz="3600" dirty="0"/>
          </a:p>
        </p:txBody>
      </p:sp>
      <p:sp>
        <p:nvSpPr>
          <p:cNvPr id="5" name="Text 2"/>
          <p:cNvSpPr txBox="1"/>
          <p:nvPr/>
        </p:nvSpPr>
        <p:spPr>
          <a:xfrm>
            <a:off x="548640" y="1828800"/>
            <a:ext cx="4922215" cy="1417320"/>
          </a:xfrm>
          <a:prstGeom prst="rect">
            <a:avLst/>
          </a:prstGeom>
          <a:noFill/>
          <a:ln/>
        </p:spPr>
        <p:txBody>
          <a:bodyPr wrap="square" lIns="0" tIns="0" rIns="0" bIns="0" rtlCol="0" anchor="t"/>
          <a:lstStyle/>
          <a:p>
            <a:pPr indent="0" marL="0">
              <a:lnSpc>
                <a:spcPct val="115000"/>
              </a:lnSpc>
              <a:buNone/>
            </a:pPr>
            <a:r>
              <a:rPr lang="en-US" sz="1500" dirty="0">
                <a:solidFill>
                  <a:srgbClr val="111111"/>
                </a:solidFill>
                <a:latin typeface="Arial" pitchFamily="34" charset="0"/>
                <a:ea typeface="Arial" pitchFamily="34" charset="-122"/>
                <a:cs typeface="Arial" pitchFamily="34" charset="-120"/>
              </a:rPr>
              <a:t>La silueta de un celular partida por una cruz blanca. La cruz está en el espacio vacío, así que se descubre en una segunda mirada.</a:t>
            </a:r>
            <a:endParaRPr lang="en-US" sz="1500" dirty="0"/>
          </a:p>
        </p:txBody>
      </p:sp>
      <p:pic>
        <p:nvPicPr>
          <p:cNvPr id="6" name="Image 1" descr="Arte del frente de la propuesta Cruz en el celular">    </p:cNvPr>
          <p:cNvPicPr>
            <a:picLocks noChangeAspect="1"/>
          </p:cNvPicPr>
          <p:nvPr/>
        </p:nvPicPr>
        <p:blipFill>
          <a:blip r:embed="rId2"/>
          <a:stretch>
            <a:fillRect/>
          </a:stretch>
        </p:blipFill>
        <p:spPr>
          <a:xfrm>
            <a:off x="548640" y="3520440"/>
            <a:ext cx="2057400" cy="2468880"/>
          </a:xfrm>
          <a:prstGeom prst="rect">
            <a:avLst/>
          </a:prstGeom>
        </p:spPr>
      </p:pic>
      <p:sp>
        <p:nvSpPr>
          <p:cNvPr id="7" name="Shape 3"/>
          <p:cNvSpPr/>
          <p:nvPr/>
        </p:nvSpPr>
        <p:spPr>
          <a:xfrm>
            <a:off x="548640" y="3520440"/>
            <a:ext cx="2057400" cy="2468880"/>
          </a:xfrm>
          <a:prstGeom prst="rect">
            <a:avLst/>
          </a:prstGeom>
          <a:solidFill>
            <a:srgbClr val="FFFFFF">
              <a:alpha val="0"/>
            </a:srgbClr>
          </a:solidFill>
          <a:ln w="9525">
            <a:solidFill>
              <a:srgbClr val="D9D9D9"/>
            </a:solidFill>
            <a:prstDash val="solid"/>
          </a:ln>
        </p:spPr>
      </p:sp>
      <p:sp>
        <p:nvSpPr>
          <p:cNvPr id="8" name="Text 4"/>
          <p:cNvSpPr txBox="1"/>
          <p:nvPr/>
        </p:nvSpPr>
        <p:spPr>
          <a:xfrm>
            <a:off x="548640" y="6062472"/>
            <a:ext cx="2514600" cy="256032"/>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Arte del frente · 25 × 30 cm</a:t>
            </a:r>
            <a:endParaRPr lang="en-US" sz="1000" dirty="0"/>
          </a:p>
        </p:txBody>
      </p:sp>
      <p:sp>
        <p:nvSpPr>
          <p:cNvPr id="9" name="Text 5"/>
          <p:cNvSpPr txBox="1"/>
          <p:nvPr/>
        </p:nvSpPr>
        <p:spPr>
          <a:xfrm>
            <a:off x="2971800" y="3520440"/>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BOLSA</a:t>
            </a:r>
            <a:endParaRPr lang="en-US" sz="1000" dirty="0"/>
          </a:p>
        </p:txBody>
      </p:sp>
      <p:sp>
        <p:nvSpPr>
          <p:cNvPr id="10" name="Text 6"/>
          <p:cNvSpPr txBox="1"/>
          <p:nvPr/>
        </p:nvSpPr>
        <p:spPr>
          <a:xfrm>
            <a:off x="2971800" y="3767328"/>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Blanca con fuelles negros</a:t>
            </a:r>
            <a:endParaRPr lang="en-US" sz="1300" dirty="0"/>
          </a:p>
        </p:txBody>
      </p:sp>
      <p:sp>
        <p:nvSpPr>
          <p:cNvPr id="11" name="Text 7"/>
          <p:cNvSpPr txBox="1"/>
          <p:nvPr/>
        </p:nvSpPr>
        <p:spPr>
          <a:xfrm>
            <a:off x="2971800" y="4416552"/>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IMPRESIÓN</a:t>
            </a:r>
            <a:endParaRPr lang="en-US" sz="1000" dirty="0"/>
          </a:p>
        </p:txBody>
      </p:sp>
      <p:sp>
        <p:nvSpPr>
          <p:cNvPr id="12" name="Text 8"/>
          <p:cNvSpPr txBox="1"/>
          <p:nvPr/>
        </p:nvSpPr>
        <p:spPr>
          <a:xfrm>
            <a:off x="2971800" y="4663440"/>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Una tinta negra</a:t>
            </a:r>
            <a:endParaRPr lang="en-US" sz="1300" dirty="0"/>
          </a:p>
        </p:txBody>
      </p:sp>
      <p:sp>
        <p:nvSpPr>
          <p:cNvPr id="13" name="Text 9"/>
          <p:cNvSpPr txBox="1"/>
          <p:nvPr/>
        </p:nvSpPr>
        <p:spPr>
          <a:xfrm>
            <a:off x="2971800" y="5312664"/>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MANIJAS</a:t>
            </a:r>
            <a:endParaRPr lang="en-US" sz="1000" dirty="0"/>
          </a:p>
        </p:txBody>
      </p:sp>
      <p:sp>
        <p:nvSpPr>
          <p:cNvPr id="14" name="Text 10"/>
          <p:cNvSpPr txBox="1"/>
          <p:nvPr/>
        </p:nvSpPr>
        <p:spPr>
          <a:xfrm>
            <a:off x="2971800" y="5559552"/>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Cordón negro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Bolsa de la propuesta Luz y sombra">    </p:cNvPr>
          <p:cNvPicPr>
            <a:picLocks noChangeAspect="1"/>
          </p:cNvPicPr>
          <p:nvPr/>
        </p:nvPicPr>
        <p:blipFill>
          <a:blip r:embed="rId1"/>
          <a:stretch>
            <a:fillRect/>
          </a:stretch>
        </p:blipFill>
        <p:spPr>
          <a:xfrm>
            <a:off x="0" y="0"/>
            <a:ext cx="6172200" cy="6858000"/>
          </a:xfrm>
          <a:prstGeom prst="rect">
            <a:avLst/>
          </a:prstGeom>
        </p:spPr>
      </p:pic>
      <p:sp>
        <p:nvSpPr>
          <p:cNvPr id="3" name="Text 0"/>
          <p:cNvSpPr txBox="1"/>
          <p:nvPr/>
        </p:nvSpPr>
        <p:spPr>
          <a:xfrm>
            <a:off x="6720840" y="640080"/>
            <a:ext cx="4922215" cy="274320"/>
          </a:xfrm>
          <a:prstGeom prst="rect">
            <a:avLst/>
          </a:prstGeom>
          <a:noFill/>
          <a:ln/>
        </p:spPr>
        <p:txBody>
          <a:bodyPr wrap="square" lIns="0" tIns="0" rIns="0" bIns="0" rtlCol="0" anchor="t"/>
          <a:lstStyle/>
          <a:p>
            <a:pPr indent="0" marL="0">
              <a:buNone/>
            </a:pPr>
            <a:r>
              <a:rPr lang="en-US" sz="1200" b="1" spc="300" kern="0" dirty="0">
                <a:solidFill>
                  <a:srgbClr val="6B6B6B"/>
                </a:solidFill>
                <a:latin typeface="Arial" pitchFamily="34" charset="0"/>
                <a:ea typeface="Arial" pitchFamily="34" charset="-122"/>
                <a:cs typeface="Arial" pitchFamily="34" charset="-120"/>
              </a:rPr>
              <a:t>PROPUESTA 05</a:t>
            </a:r>
            <a:endParaRPr lang="en-US" sz="1200" dirty="0"/>
          </a:p>
        </p:txBody>
      </p:sp>
      <p:sp>
        <p:nvSpPr>
          <p:cNvPr id="4" name="Text 1"/>
          <p:cNvSpPr txBox="1"/>
          <p:nvPr/>
        </p:nvSpPr>
        <p:spPr>
          <a:xfrm>
            <a:off x="6720840" y="932688"/>
            <a:ext cx="4922215" cy="731520"/>
          </a:xfrm>
          <a:prstGeom prst="rect">
            <a:avLst/>
          </a:prstGeom>
          <a:noFill/>
          <a:ln/>
        </p:spPr>
        <p:txBody>
          <a:bodyPr wrap="square" lIns="0" tIns="0" rIns="0" bIns="0" rtlCol="0" anchor="t"/>
          <a:lstStyle/>
          <a:p>
            <a:pPr indent="0" marL="0">
              <a:buNone/>
            </a:pPr>
            <a:r>
              <a:rPr lang="en-US" sz="3600" dirty="0">
                <a:solidFill>
                  <a:srgbClr val="111111"/>
                </a:solidFill>
                <a:latin typeface="Georgia" pitchFamily="34" charset="0"/>
                <a:ea typeface="Georgia" pitchFamily="34" charset="-122"/>
                <a:cs typeface="Georgia" pitchFamily="34" charset="-120"/>
              </a:rPr>
              <a:t>Luz y sombra</a:t>
            </a:r>
            <a:endParaRPr lang="en-US" sz="3600" dirty="0"/>
          </a:p>
        </p:txBody>
      </p:sp>
      <p:sp>
        <p:nvSpPr>
          <p:cNvPr id="5" name="Text 2"/>
          <p:cNvSpPr txBox="1"/>
          <p:nvPr/>
        </p:nvSpPr>
        <p:spPr>
          <a:xfrm>
            <a:off x="6720840" y="1828800"/>
            <a:ext cx="4922215" cy="1417320"/>
          </a:xfrm>
          <a:prstGeom prst="rect">
            <a:avLst/>
          </a:prstGeom>
          <a:noFill/>
          <a:ln/>
        </p:spPr>
        <p:txBody>
          <a:bodyPr wrap="square" lIns="0" tIns="0" rIns="0" bIns="0" rtlCol="0" anchor="t"/>
          <a:lstStyle/>
          <a:p>
            <a:pPr indent="0" marL="0">
              <a:lnSpc>
                <a:spcPct val="115000"/>
              </a:lnSpc>
              <a:buNone/>
            </a:pPr>
            <a:r>
              <a:rPr lang="en-US" sz="1500" dirty="0">
                <a:solidFill>
                  <a:srgbClr val="111111"/>
                </a:solidFill>
                <a:latin typeface="Arial" pitchFamily="34" charset="0"/>
                <a:ea typeface="Arial" pitchFamily="34" charset="-122"/>
                <a:cs typeface="Arial" pitchFamily="34" charset="-120"/>
              </a:rPr>
              <a:t>La bolsa es mitad negra y mitad blanca, y todo cambia de color al cruzar la línea del centro: la luz en medio de la oscuridad (Juan 1:5).</a:t>
            </a:r>
            <a:endParaRPr lang="en-US" sz="1500" dirty="0"/>
          </a:p>
        </p:txBody>
      </p:sp>
      <p:pic>
        <p:nvPicPr>
          <p:cNvPr id="6" name="Image 1" descr="Arte del frente de la propuesta Luz y sombra">    </p:cNvPr>
          <p:cNvPicPr>
            <a:picLocks noChangeAspect="1"/>
          </p:cNvPicPr>
          <p:nvPr/>
        </p:nvPicPr>
        <p:blipFill>
          <a:blip r:embed="rId2"/>
          <a:stretch>
            <a:fillRect/>
          </a:stretch>
        </p:blipFill>
        <p:spPr>
          <a:xfrm>
            <a:off x="6720840" y="3520440"/>
            <a:ext cx="2057400" cy="2468880"/>
          </a:xfrm>
          <a:prstGeom prst="rect">
            <a:avLst/>
          </a:prstGeom>
        </p:spPr>
      </p:pic>
      <p:sp>
        <p:nvSpPr>
          <p:cNvPr id="7" name="Shape 3"/>
          <p:cNvSpPr/>
          <p:nvPr/>
        </p:nvSpPr>
        <p:spPr>
          <a:xfrm>
            <a:off x="6720840" y="3520440"/>
            <a:ext cx="2057400" cy="2468880"/>
          </a:xfrm>
          <a:prstGeom prst="rect">
            <a:avLst/>
          </a:prstGeom>
          <a:solidFill>
            <a:srgbClr val="FFFFFF">
              <a:alpha val="0"/>
            </a:srgbClr>
          </a:solidFill>
          <a:ln w="9525">
            <a:solidFill>
              <a:srgbClr val="D9D9D9"/>
            </a:solidFill>
            <a:prstDash val="solid"/>
          </a:ln>
        </p:spPr>
      </p:sp>
      <p:sp>
        <p:nvSpPr>
          <p:cNvPr id="8" name="Text 4"/>
          <p:cNvSpPr txBox="1"/>
          <p:nvPr/>
        </p:nvSpPr>
        <p:spPr>
          <a:xfrm>
            <a:off x="6720840" y="6062472"/>
            <a:ext cx="2514600" cy="256032"/>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Arte del frente · 25 × 30 cm</a:t>
            </a:r>
            <a:endParaRPr lang="en-US" sz="1000" dirty="0"/>
          </a:p>
        </p:txBody>
      </p:sp>
      <p:sp>
        <p:nvSpPr>
          <p:cNvPr id="9" name="Text 5"/>
          <p:cNvSpPr txBox="1"/>
          <p:nvPr/>
        </p:nvSpPr>
        <p:spPr>
          <a:xfrm>
            <a:off x="9144000" y="3520440"/>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BOLSA</a:t>
            </a:r>
            <a:endParaRPr lang="en-US" sz="1000" dirty="0"/>
          </a:p>
        </p:txBody>
      </p:sp>
      <p:sp>
        <p:nvSpPr>
          <p:cNvPr id="10" name="Text 6"/>
          <p:cNvSpPr txBox="1"/>
          <p:nvPr/>
        </p:nvSpPr>
        <p:spPr>
          <a:xfrm>
            <a:off x="9144000" y="3767328"/>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Mitad negra y mitad blanca</a:t>
            </a:r>
            <a:endParaRPr lang="en-US" sz="1300" dirty="0"/>
          </a:p>
        </p:txBody>
      </p:sp>
      <p:sp>
        <p:nvSpPr>
          <p:cNvPr id="11" name="Text 7"/>
          <p:cNvSpPr txBox="1"/>
          <p:nvPr/>
        </p:nvSpPr>
        <p:spPr>
          <a:xfrm>
            <a:off x="9144000" y="4416552"/>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IMPRESIÓN</a:t>
            </a:r>
            <a:endParaRPr lang="en-US" sz="1000" dirty="0"/>
          </a:p>
        </p:txBody>
      </p:sp>
      <p:sp>
        <p:nvSpPr>
          <p:cNvPr id="12" name="Text 8"/>
          <p:cNvSpPr txBox="1"/>
          <p:nvPr/>
        </p:nvSpPr>
        <p:spPr>
          <a:xfrm>
            <a:off x="9144000" y="4663440"/>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Una tinta negra (la mitad negra es fondo)</a:t>
            </a:r>
            <a:endParaRPr lang="en-US" sz="1300" dirty="0"/>
          </a:p>
        </p:txBody>
      </p:sp>
      <p:sp>
        <p:nvSpPr>
          <p:cNvPr id="13" name="Text 9"/>
          <p:cNvSpPr txBox="1"/>
          <p:nvPr/>
        </p:nvSpPr>
        <p:spPr>
          <a:xfrm>
            <a:off x="9144000" y="5312664"/>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MANIJAS</a:t>
            </a:r>
            <a:endParaRPr lang="en-US" sz="1000" dirty="0"/>
          </a:p>
        </p:txBody>
      </p:sp>
      <p:sp>
        <p:nvSpPr>
          <p:cNvPr id="14" name="Text 10"/>
          <p:cNvSpPr txBox="1"/>
          <p:nvPr/>
        </p:nvSpPr>
        <p:spPr>
          <a:xfrm>
            <a:off x="9144000" y="5559552"/>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Cordón negro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pic>
        <p:nvPicPr>
          <p:cNvPr id="2" name="Image 0" descr="Bolsa de la propuesta Monograma">    </p:cNvPr>
          <p:cNvPicPr>
            <a:picLocks noChangeAspect="1"/>
          </p:cNvPicPr>
          <p:nvPr/>
        </p:nvPicPr>
        <p:blipFill>
          <a:blip r:embed="rId1"/>
          <a:stretch>
            <a:fillRect/>
          </a:stretch>
        </p:blipFill>
        <p:spPr>
          <a:xfrm>
            <a:off x="6019495" y="0"/>
            <a:ext cx="6172200" cy="6858000"/>
          </a:xfrm>
          <a:prstGeom prst="rect">
            <a:avLst/>
          </a:prstGeom>
        </p:spPr>
      </p:pic>
      <p:sp>
        <p:nvSpPr>
          <p:cNvPr id="3" name="Text 0"/>
          <p:cNvSpPr txBox="1"/>
          <p:nvPr/>
        </p:nvSpPr>
        <p:spPr>
          <a:xfrm>
            <a:off x="548640" y="640080"/>
            <a:ext cx="4922215" cy="274320"/>
          </a:xfrm>
          <a:prstGeom prst="rect">
            <a:avLst/>
          </a:prstGeom>
          <a:noFill/>
          <a:ln/>
        </p:spPr>
        <p:txBody>
          <a:bodyPr wrap="square" lIns="0" tIns="0" rIns="0" bIns="0" rtlCol="0" anchor="t"/>
          <a:lstStyle/>
          <a:p>
            <a:pPr indent="0" marL="0">
              <a:buNone/>
            </a:pPr>
            <a:r>
              <a:rPr lang="en-US" sz="1200" b="1" spc="300" kern="0" dirty="0">
                <a:solidFill>
                  <a:srgbClr val="A6A6A6"/>
                </a:solidFill>
                <a:latin typeface="Arial" pitchFamily="34" charset="0"/>
                <a:ea typeface="Arial" pitchFamily="34" charset="-122"/>
                <a:cs typeface="Arial" pitchFamily="34" charset="-120"/>
              </a:rPr>
              <a:t>PROPUESTA 06</a:t>
            </a:r>
            <a:endParaRPr lang="en-US" sz="1200" dirty="0"/>
          </a:p>
        </p:txBody>
      </p:sp>
      <p:sp>
        <p:nvSpPr>
          <p:cNvPr id="4" name="Text 1"/>
          <p:cNvSpPr txBox="1"/>
          <p:nvPr/>
        </p:nvSpPr>
        <p:spPr>
          <a:xfrm>
            <a:off x="548640" y="932688"/>
            <a:ext cx="4922215" cy="731520"/>
          </a:xfrm>
          <a:prstGeom prst="rect">
            <a:avLst/>
          </a:prstGeom>
          <a:noFill/>
          <a:ln/>
        </p:spPr>
        <p:txBody>
          <a:bodyPr wrap="square" lIns="0" tIns="0" rIns="0" bIns="0" rtlCol="0" anchor="t"/>
          <a:lstStyle/>
          <a:p>
            <a:pPr indent="0" marL="0">
              <a:buNone/>
            </a:pPr>
            <a:r>
              <a:rPr lang="en-US" sz="3600" dirty="0">
                <a:solidFill>
                  <a:srgbClr val="FFFFFF"/>
                </a:solidFill>
                <a:latin typeface="Georgia" pitchFamily="34" charset="0"/>
                <a:ea typeface="Georgia" pitchFamily="34" charset="-122"/>
                <a:cs typeface="Georgia" pitchFamily="34" charset="-120"/>
              </a:rPr>
              <a:t>Monograma</a:t>
            </a:r>
            <a:endParaRPr lang="en-US" sz="3600" dirty="0"/>
          </a:p>
        </p:txBody>
      </p:sp>
      <p:sp>
        <p:nvSpPr>
          <p:cNvPr id="5" name="Text 2"/>
          <p:cNvSpPr txBox="1"/>
          <p:nvPr/>
        </p:nvSpPr>
        <p:spPr>
          <a:xfrm>
            <a:off x="548640" y="1828800"/>
            <a:ext cx="4922215" cy="1417320"/>
          </a:xfrm>
          <a:prstGeom prst="rect">
            <a:avLst/>
          </a:prstGeom>
          <a:noFill/>
          <a:ln/>
        </p:spPr>
        <p:txBody>
          <a:bodyPr wrap="square" lIns="0" tIns="0" rIns="0" bIns="0" rtlCol="0" anchor="t"/>
          <a:lstStyle/>
          <a:p>
            <a:pPr indent="0" marL="0">
              <a:lnSpc>
                <a:spcPct val="115000"/>
              </a:lnSpc>
              <a:buNone/>
            </a:pPr>
            <a:r>
              <a:rPr lang="en-US" sz="1500" dirty="0">
                <a:solidFill>
                  <a:srgbClr val="FFFFFF"/>
                </a:solidFill>
                <a:latin typeface="Arial" pitchFamily="34" charset="0"/>
                <a:ea typeface="Arial" pitchFamily="34" charset="-122"/>
                <a:cs typeface="Arial" pitchFamily="34" charset="-120"/>
              </a:rPr>
              <a:t>Un patrón de monogramas y cruces que solo aparece cuando le pega la luz, con una etiqueta blanca que lleva el logo. Estilo de marca de lujo.</a:t>
            </a:r>
            <a:endParaRPr lang="en-US" sz="1500" dirty="0"/>
          </a:p>
        </p:txBody>
      </p:sp>
      <p:pic>
        <p:nvPicPr>
          <p:cNvPr id="6" name="Image 1" descr="Arte del frente de la propuesta Monograma">    </p:cNvPr>
          <p:cNvPicPr>
            <a:picLocks noChangeAspect="1"/>
          </p:cNvPicPr>
          <p:nvPr/>
        </p:nvPicPr>
        <p:blipFill>
          <a:blip r:embed="rId2"/>
          <a:stretch>
            <a:fillRect/>
          </a:stretch>
        </p:blipFill>
        <p:spPr>
          <a:xfrm>
            <a:off x="548640" y="3520440"/>
            <a:ext cx="2057400" cy="2468880"/>
          </a:xfrm>
          <a:prstGeom prst="rect">
            <a:avLst/>
          </a:prstGeom>
        </p:spPr>
      </p:pic>
      <p:sp>
        <p:nvSpPr>
          <p:cNvPr id="7" name="Shape 3"/>
          <p:cNvSpPr/>
          <p:nvPr/>
        </p:nvSpPr>
        <p:spPr>
          <a:xfrm>
            <a:off x="548640" y="3520440"/>
            <a:ext cx="2057400" cy="2468880"/>
          </a:xfrm>
          <a:prstGeom prst="rect">
            <a:avLst/>
          </a:prstGeom>
          <a:solidFill>
            <a:srgbClr val="FFFFFF">
              <a:alpha val="0"/>
            </a:srgbClr>
          </a:solidFill>
          <a:ln w="9525">
            <a:solidFill>
              <a:srgbClr val="3A3A3A"/>
            </a:solidFill>
            <a:prstDash val="solid"/>
          </a:ln>
        </p:spPr>
      </p:sp>
      <p:sp>
        <p:nvSpPr>
          <p:cNvPr id="8" name="Text 4"/>
          <p:cNvSpPr txBox="1"/>
          <p:nvPr/>
        </p:nvSpPr>
        <p:spPr>
          <a:xfrm>
            <a:off x="548640" y="6062472"/>
            <a:ext cx="2514600" cy="256032"/>
          </a:xfrm>
          <a:prstGeom prst="rect">
            <a:avLst/>
          </a:prstGeom>
          <a:noFill/>
          <a:ln/>
        </p:spPr>
        <p:txBody>
          <a:bodyPr wrap="square" lIns="0" tIns="0" rIns="0" bIns="0" rtlCol="0" anchor="t"/>
          <a:lstStyle/>
          <a:p>
            <a:pPr indent="0" marL="0">
              <a:buNone/>
            </a:pPr>
            <a:r>
              <a:rPr lang="en-US" sz="1000" dirty="0">
                <a:solidFill>
                  <a:srgbClr val="A6A6A6"/>
                </a:solidFill>
                <a:latin typeface="Arial" pitchFamily="34" charset="0"/>
                <a:ea typeface="Arial" pitchFamily="34" charset="-122"/>
                <a:cs typeface="Arial" pitchFamily="34" charset="-120"/>
              </a:rPr>
              <a:t>Arte del frente · 25 × 30 cm</a:t>
            </a:r>
            <a:endParaRPr lang="en-US" sz="1000" dirty="0"/>
          </a:p>
        </p:txBody>
      </p:sp>
      <p:sp>
        <p:nvSpPr>
          <p:cNvPr id="9" name="Text 5"/>
          <p:cNvSpPr txBox="1"/>
          <p:nvPr/>
        </p:nvSpPr>
        <p:spPr>
          <a:xfrm>
            <a:off x="2971800" y="3520440"/>
            <a:ext cx="2499055" cy="228600"/>
          </a:xfrm>
          <a:prstGeom prst="rect">
            <a:avLst/>
          </a:prstGeom>
          <a:noFill/>
          <a:ln/>
        </p:spPr>
        <p:txBody>
          <a:bodyPr wrap="square" lIns="0" tIns="0" rIns="0" bIns="0" rtlCol="0" anchor="t"/>
          <a:lstStyle/>
          <a:p>
            <a:pPr indent="0" marL="0">
              <a:buNone/>
            </a:pPr>
            <a:r>
              <a:rPr lang="en-US" sz="1000" b="1" spc="150" kern="0" dirty="0">
                <a:solidFill>
                  <a:srgbClr val="A6A6A6"/>
                </a:solidFill>
                <a:latin typeface="Arial" pitchFamily="34" charset="0"/>
                <a:ea typeface="Arial" pitchFamily="34" charset="-122"/>
                <a:cs typeface="Arial" pitchFamily="34" charset="-120"/>
              </a:rPr>
              <a:t>BOLSA</a:t>
            </a:r>
            <a:endParaRPr lang="en-US" sz="1000" dirty="0"/>
          </a:p>
        </p:txBody>
      </p:sp>
      <p:sp>
        <p:nvSpPr>
          <p:cNvPr id="10" name="Text 6"/>
          <p:cNvSpPr txBox="1"/>
          <p:nvPr/>
        </p:nvSpPr>
        <p:spPr>
          <a:xfrm>
            <a:off x="2971800" y="3767328"/>
            <a:ext cx="2499055" cy="566928"/>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Negra</a:t>
            </a:r>
            <a:endParaRPr lang="en-US" sz="1300" dirty="0"/>
          </a:p>
        </p:txBody>
      </p:sp>
      <p:sp>
        <p:nvSpPr>
          <p:cNvPr id="11" name="Text 7"/>
          <p:cNvSpPr txBox="1"/>
          <p:nvPr/>
        </p:nvSpPr>
        <p:spPr>
          <a:xfrm>
            <a:off x="2971800" y="4416552"/>
            <a:ext cx="2499055" cy="228600"/>
          </a:xfrm>
          <a:prstGeom prst="rect">
            <a:avLst/>
          </a:prstGeom>
          <a:noFill/>
          <a:ln/>
        </p:spPr>
        <p:txBody>
          <a:bodyPr wrap="square" lIns="0" tIns="0" rIns="0" bIns="0" rtlCol="0" anchor="t"/>
          <a:lstStyle/>
          <a:p>
            <a:pPr indent="0" marL="0">
              <a:buNone/>
            </a:pPr>
            <a:r>
              <a:rPr lang="en-US" sz="1000" b="1" spc="150" kern="0" dirty="0">
                <a:solidFill>
                  <a:srgbClr val="A6A6A6"/>
                </a:solidFill>
                <a:latin typeface="Arial" pitchFamily="34" charset="0"/>
                <a:ea typeface="Arial" pitchFamily="34" charset="-122"/>
                <a:cs typeface="Arial" pitchFamily="34" charset="-120"/>
              </a:rPr>
              <a:t>IMPRESIÓN</a:t>
            </a:r>
            <a:endParaRPr lang="en-US" sz="1000" dirty="0"/>
          </a:p>
        </p:txBody>
      </p:sp>
      <p:sp>
        <p:nvSpPr>
          <p:cNvPr id="12" name="Text 8"/>
          <p:cNvSpPr txBox="1"/>
          <p:nvPr/>
        </p:nvSpPr>
        <p:spPr>
          <a:xfrm>
            <a:off x="2971800" y="4663440"/>
            <a:ext cx="2499055" cy="566928"/>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Barniz UV brillante sobre laminado mate y etiqueta blanca</a:t>
            </a:r>
            <a:endParaRPr lang="en-US" sz="1300" dirty="0"/>
          </a:p>
        </p:txBody>
      </p:sp>
      <p:sp>
        <p:nvSpPr>
          <p:cNvPr id="13" name="Text 9"/>
          <p:cNvSpPr txBox="1"/>
          <p:nvPr/>
        </p:nvSpPr>
        <p:spPr>
          <a:xfrm>
            <a:off x="2971800" y="5312664"/>
            <a:ext cx="2499055" cy="228600"/>
          </a:xfrm>
          <a:prstGeom prst="rect">
            <a:avLst/>
          </a:prstGeom>
          <a:noFill/>
          <a:ln/>
        </p:spPr>
        <p:txBody>
          <a:bodyPr wrap="square" lIns="0" tIns="0" rIns="0" bIns="0" rtlCol="0" anchor="t"/>
          <a:lstStyle/>
          <a:p>
            <a:pPr indent="0" marL="0">
              <a:buNone/>
            </a:pPr>
            <a:r>
              <a:rPr lang="en-US" sz="1000" b="1" spc="150" kern="0" dirty="0">
                <a:solidFill>
                  <a:srgbClr val="A6A6A6"/>
                </a:solidFill>
                <a:latin typeface="Arial" pitchFamily="34" charset="0"/>
                <a:ea typeface="Arial" pitchFamily="34" charset="-122"/>
                <a:cs typeface="Arial" pitchFamily="34" charset="-120"/>
              </a:rPr>
              <a:t>MANIJAS</a:t>
            </a:r>
            <a:endParaRPr lang="en-US" sz="1000" dirty="0"/>
          </a:p>
        </p:txBody>
      </p:sp>
      <p:sp>
        <p:nvSpPr>
          <p:cNvPr id="14" name="Text 10"/>
          <p:cNvSpPr txBox="1"/>
          <p:nvPr/>
        </p:nvSpPr>
        <p:spPr>
          <a:xfrm>
            <a:off x="2971800" y="5559552"/>
            <a:ext cx="2499055" cy="566928"/>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Cordón negro</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Bolsa de la propuesta Tipográfico">    </p:cNvPr>
          <p:cNvPicPr>
            <a:picLocks noChangeAspect="1"/>
          </p:cNvPicPr>
          <p:nvPr/>
        </p:nvPicPr>
        <p:blipFill>
          <a:blip r:embed="rId1"/>
          <a:stretch>
            <a:fillRect/>
          </a:stretch>
        </p:blipFill>
        <p:spPr>
          <a:xfrm>
            <a:off x="0" y="0"/>
            <a:ext cx="6172200" cy="6858000"/>
          </a:xfrm>
          <a:prstGeom prst="rect">
            <a:avLst/>
          </a:prstGeom>
        </p:spPr>
      </p:pic>
      <p:sp>
        <p:nvSpPr>
          <p:cNvPr id="3" name="Text 0"/>
          <p:cNvSpPr txBox="1"/>
          <p:nvPr/>
        </p:nvSpPr>
        <p:spPr>
          <a:xfrm>
            <a:off x="6720840" y="640080"/>
            <a:ext cx="4922215" cy="274320"/>
          </a:xfrm>
          <a:prstGeom prst="rect">
            <a:avLst/>
          </a:prstGeom>
          <a:noFill/>
          <a:ln/>
        </p:spPr>
        <p:txBody>
          <a:bodyPr wrap="square" lIns="0" tIns="0" rIns="0" bIns="0" rtlCol="0" anchor="t"/>
          <a:lstStyle/>
          <a:p>
            <a:pPr indent="0" marL="0">
              <a:buNone/>
            </a:pPr>
            <a:r>
              <a:rPr lang="en-US" sz="1200" b="1" spc="300" kern="0" dirty="0">
                <a:solidFill>
                  <a:srgbClr val="6B6B6B"/>
                </a:solidFill>
                <a:latin typeface="Arial" pitchFamily="34" charset="0"/>
                <a:ea typeface="Arial" pitchFamily="34" charset="-122"/>
                <a:cs typeface="Arial" pitchFamily="34" charset="-120"/>
              </a:rPr>
              <a:t>PROPUESTA 07</a:t>
            </a:r>
            <a:endParaRPr lang="en-US" sz="1200" dirty="0"/>
          </a:p>
        </p:txBody>
      </p:sp>
      <p:sp>
        <p:nvSpPr>
          <p:cNvPr id="4" name="Text 1"/>
          <p:cNvSpPr txBox="1"/>
          <p:nvPr/>
        </p:nvSpPr>
        <p:spPr>
          <a:xfrm>
            <a:off x="6720840" y="932688"/>
            <a:ext cx="4922215" cy="731520"/>
          </a:xfrm>
          <a:prstGeom prst="rect">
            <a:avLst/>
          </a:prstGeom>
          <a:noFill/>
          <a:ln/>
        </p:spPr>
        <p:txBody>
          <a:bodyPr wrap="square" lIns="0" tIns="0" rIns="0" bIns="0" rtlCol="0" anchor="t"/>
          <a:lstStyle/>
          <a:p>
            <a:pPr indent="0" marL="0">
              <a:buNone/>
            </a:pPr>
            <a:r>
              <a:rPr lang="en-US" sz="3600" dirty="0">
                <a:solidFill>
                  <a:srgbClr val="111111"/>
                </a:solidFill>
                <a:latin typeface="Georgia" pitchFamily="34" charset="0"/>
                <a:ea typeface="Georgia" pitchFamily="34" charset="-122"/>
                <a:cs typeface="Georgia" pitchFamily="34" charset="-120"/>
              </a:rPr>
              <a:t>Tipográfico</a:t>
            </a:r>
            <a:endParaRPr lang="en-US" sz="3600" dirty="0"/>
          </a:p>
        </p:txBody>
      </p:sp>
      <p:sp>
        <p:nvSpPr>
          <p:cNvPr id="5" name="Text 2"/>
          <p:cNvSpPr txBox="1"/>
          <p:nvPr/>
        </p:nvSpPr>
        <p:spPr>
          <a:xfrm>
            <a:off x="6720840" y="1828800"/>
            <a:ext cx="4922215" cy="1417320"/>
          </a:xfrm>
          <a:prstGeom prst="rect">
            <a:avLst/>
          </a:prstGeom>
          <a:noFill/>
          <a:ln/>
        </p:spPr>
        <p:txBody>
          <a:bodyPr wrap="square" lIns="0" tIns="0" rIns="0" bIns="0" rtlCol="0" anchor="t"/>
          <a:lstStyle/>
          <a:p>
            <a:pPr indent="0" marL="0">
              <a:lnSpc>
                <a:spcPct val="115000"/>
              </a:lnSpc>
              <a:buNone/>
            </a:pPr>
            <a:r>
              <a:rPr lang="en-US" sz="1500" dirty="0">
                <a:solidFill>
                  <a:srgbClr val="111111"/>
                </a:solidFill>
                <a:latin typeface="Arial" pitchFamily="34" charset="0"/>
                <a:ea typeface="Arial" pitchFamily="34" charset="-122"/>
                <a:cs typeface="Arial" pitchFamily="34" charset="-120"/>
              </a:rPr>
              <a:t>El eslogan es el protagonista, con la cita de Génesis 12:2, el versículo del que sale «bendecidos para bendecir». El QR va en el costado.</a:t>
            </a:r>
            <a:endParaRPr lang="en-US" sz="1500" dirty="0"/>
          </a:p>
        </p:txBody>
      </p:sp>
      <p:pic>
        <p:nvPicPr>
          <p:cNvPr id="6" name="Image 1" descr="Arte del frente de la propuesta Tipográfico">    </p:cNvPr>
          <p:cNvPicPr>
            <a:picLocks noChangeAspect="1"/>
          </p:cNvPicPr>
          <p:nvPr/>
        </p:nvPicPr>
        <p:blipFill>
          <a:blip r:embed="rId2"/>
          <a:stretch>
            <a:fillRect/>
          </a:stretch>
        </p:blipFill>
        <p:spPr>
          <a:xfrm>
            <a:off x="6720840" y="3520440"/>
            <a:ext cx="2057400" cy="2468880"/>
          </a:xfrm>
          <a:prstGeom prst="rect">
            <a:avLst/>
          </a:prstGeom>
        </p:spPr>
      </p:pic>
      <p:sp>
        <p:nvSpPr>
          <p:cNvPr id="7" name="Shape 3"/>
          <p:cNvSpPr/>
          <p:nvPr/>
        </p:nvSpPr>
        <p:spPr>
          <a:xfrm>
            <a:off x="6720840" y="3520440"/>
            <a:ext cx="2057400" cy="2468880"/>
          </a:xfrm>
          <a:prstGeom prst="rect">
            <a:avLst/>
          </a:prstGeom>
          <a:solidFill>
            <a:srgbClr val="FFFFFF">
              <a:alpha val="0"/>
            </a:srgbClr>
          </a:solidFill>
          <a:ln w="9525">
            <a:solidFill>
              <a:srgbClr val="D9D9D9"/>
            </a:solidFill>
            <a:prstDash val="solid"/>
          </a:ln>
        </p:spPr>
      </p:sp>
      <p:sp>
        <p:nvSpPr>
          <p:cNvPr id="8" name="Text 4"/>
          <p:cNvSpPr txBox="1"/>
          <p:nvPr/>
        </p:nvSpPr>
        <p:spPr>
          <a:xfrm>
            <a:off x="6720840" y="6062472"/>
            <a:ext cx="2514600" cy="256032"/>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Arte del frente · 25 × 30 cm</a:t>
            </a:r>
            <a:endParaRPr lang="en-US" sz="1000" dirty="0"/>
          </a:p>
        </p:txBody>
      </p:sp>
      <p:sp>
        <p:nvSpPr>
          <p:cNvPr id="9" name="Text 5"/>
          <p:cNvSpPr txBox="1"/>
          <p:nvPr/>
        </p:nvSpPr>
        <p:spPr>
          <a:xfrm>
            <a:off x="9144000" y="3520440"/>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BOLSA</a:t>
            </a:r>
            <a:endParaRPr lang="en-US" sz="1000" dirty="0"/>
          </a:p>
        </p:txBody>
      </p:sp>
      <p:sp>
        <p:nvSpPr>
          <p:cNvPr id="10" name="Text 6"/>
          <p:cNvSpPr txBox="1"/>
          <p:nvPr/>
        </p:nvSpPr>
        <p:spPr>
          <a:xfrm>
            <a:off x="9144000" y="3767328"/>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Blanca</a:t>
            </a:r>
            <a:endParaRPr lang="en-US" sz="1300" dirty="0"/>
          </a:p>
        </p:txBody>
      </p:sp>
      <p:sp>
        <p:nvSpPr>
          <p:cNvPr id="11" name="Text 7"/>
          <p:cNvSpPr txBox="1"/>
          <p:nvPr/>
        </p:nvSpPr>
        <p:spPr>
          <a:xfrm>
            <a:off x="9144000" y="4416552"/>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IMPRESIÓN</a:t>
            </a:r>
            <a:endParaRPr lang="en-US" sz="1000" dirty="0"/>
          </a:p>
        </p:txBody>
      </p:sp>
      <p:sp>
        <p:nvSpPr>
          <p:cNvPr id="12" name="Text 8"/>
          <p:cNvSpPr txBox="1"/>
          <p:nvPr/>
        </p:nvSpPr>
        <p:spPr>
          <a:xfrm>
            <a:off x="9144000" y="4663440"/>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Una tinta negra</a:t>
            </a:r>
            <a:endParaRPr lang="en-US" sz="1300" dirty="0"/>
          </a:p>
        </p:txBody>
      </p:sp>
      <p:sp>
        <p:nvSpPr>
          <p:cNvPr id="13" name="Text 9"/>
          <p:cNvSpPr txBox="1"/>
          <p:nvPr/>
        </p:nvSpPr>
        <p:spPr>
          <a:xfrm>
            <a:off x="9144000" y="5312664"/>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MANIJAS</a:t>
            </a:r>
            <a:endParaRPr lang="en-US" sz="1000" dirty="0"/>
          </a:p>
        </p:txBody>
      </p:sp>
      <p:sp>
        <p:nvSpPr>
          <p:cNvPr id="14" name="Text 10"/>
          <p:cNvSpPr txBox="1"/>
          <p:nvPr/>
        </p:nvSpPr>
        <p:spPr>
          <a:xfrm>
            <a:off x="9144000" y="5559552"/>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Cordón negro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pic>
        <p:nvPicPr>
          <p:cNvPr id="2" name="Image 0" descr="Bolsa de la propuesta Sello">    </p:cNvPr>
          <p:cNvPicPr>
            <a:picLocks noChangeAspect="1"/>
          </p:cNvPicPr>
          <p:nvPr/>
        </p:nvPicPr>
        <p:blipFill>
          <a:blip r:embed="rId1"/>
          <a:stretch>
            <a:fillRect/>
          </a:stretch>
        </p:blipFill>
        <p:spPr>
          <a:xfrm>
            <a:off x="6019495" y="0"/>
            <a:ext cx="6172200" cy="6858000"/>
          </a:xfrm>
          <a:prstGeom prst="rect">
            <a:avLst/>
          </a:prstGeom>
        </p:spPr>
      </p:pic>
      <p:sp>
        <p:nvSpPr>
          <p:cNvPr id="3" name="Text 0"/>
          <p:cNvSpPr txBox="1"/>
          <p:nvPr/>
        </p:nvSpPr>
        <p:spPr>
          <a:xfrm>
            <a:off x="548640" y="640080"/>
            <a:ext cx="4922215" cy="274320"/>
          </a:xfrm>
          <a:prstGeom prst="rect">
            <a:avLst/>
          </a:prstGeom>
          <a:noFill/>
          <a:ln/>
        </p:spPr>
        <p:txBody>
          <a:bodyPr wrap="square" lIns="0" tIns="0" rIns="0" bIns="0" rtlCol="0" anchor="t"/>
          <a:lstStyle/>
          <a:p>
            <a:pPr indent="0" marL="0">
              <a:buNone/>
            </a:pPr>
            <a:r>
              <a:rPr lang="en-US" sz="1200" b="1" spc="300" kern="0" dirty="0">
                <a:solidFill>
                  <a:srgbClr val="A6A6A6"/>
                </a:solidFill>
                <a:latin typeface="Arial" pitchFamily="34" charset="0"/>
                <a:ea typeface="Arial" pitchFamily="34" charset="-122"/>
                <a:cs typeface="Arial" pitchFamily="34" charset="-120"/>
              </a:rPr>
              <a:t>PROPUESTA 08</a:t>
            </a:r>
            <a:endParaRPr lang="en-US" sz="1200" dirty="0"/>
          </a:p>
        </p:txBody>
      </p:sp>
      <p:sp>
        <p:nvSpPr>
          <p:cNvPr id="4" name="Text 1"/>
          <p:cNvSpPr txBox="1"/>
          <p:nvPr/>
        </p:nvSpPr>
        <p:spPr>
          <a:xfrm>
            <a:off x="548640" y="932688"/>
            <a:ext cx="4922215" cy="731520"/>
          </a:xfrm>
          <a:prstGeom prst="rect">
            <a:avLst/>
          </a:prstGeom>
          <a:noFill/>
          <a:ln/>
        </p:spPr>
        <p:txBody>
          <a:bodyPr wrap="square" lIns="0" tIns="0" rIns="0" bIns="0" rtlCol="0" anchor="t"/>
          <a:lstStyle/>
          <a:p>
            <a:pPr indent="0" marL="0">
              <a:buNone/>
            </a:pPr>
            <a:r>
              <a:rPr lang="en-US" sz="3600" dirty="0">
                <a:solidFill>
                  <a:srgbClr val="FFFFFF"/>
                </a:solidFill>
                <a:latin typeface="Georgia" pitchFamily="34" charset="0"/>
                <a:ea typeface="Georgia" pitchFamily="34" charset="-122"/>
                <a:cs typeface="Georgia" pitchFamily="34" charset="-120"/>
              </a:rPr>
              <a:t>Sello</a:t>
            </a:r>
            <a:endParaRPr lang="en-US" sz="3600" dirty="0"/>
          </a:p>
        </p:txBody>
      </p:sp>
      <p:sp>
        <p:nvSpPr>
          <p:cNvPr id="5" name="Text 2"/>
          <p:cNvSpPr txBox="1"/>
          <p:nvPr/>
        </p:nvSpPr>
        <p:spPr>
          <a:xfrm>
            <a:off x="548640" y="1828800"/>
            <a:ext cx="4922215" cy="1417320"/>
          </a:xfrm>
          <a:prstGeom prst="rect">
            <a:avLst/>
          </a:prstGeom>
          <a:noFill/>
          <a:ln/>
        </p:spPr>
        <p:txBody>
          <a:bodyPr wrap="square" lIns="0" tIns="0" rIns="0" bIns="0" rtlCol="0" anchor="t"/>
          <a:lstStyle/>
          <a:p>
            <a:pPr indent="0" marL="0">
              <a:lnSpc>
                <a:spcPct val="115000"/>
              </a:lnSpc>
              <a:buNone/>
            </a:pPr>
            <a:r>
              <a:rPr lang="en-US" sz="1500" dirty="0">
                <a:solidFill>
                  <a:srgbClr val="FFFFFF"/>
                </a:solidFill>
                <a:latin typeface="Arial" pitchFamily="34" charset="0"/>
                <a:ea typeface="Arial" pitchFamily="34" charset="-122"/>
                <a:cs typeface="Arial" pitchFamily="34" charset="-120"/>
              </a:rPr>
              <a:t>Un sello circular con el eslogan alrededor del monograma. El mismo sello sirve de sticker para cerrar bolsas y cajas.</a:t>
            </a:r>
            <a:endParaRPr lang="en-US" sz="1500" dirty="0"/>
          </a:p>
        </p:txBody>
      </p:sp>
      <p:pic>
        <p:nvPicPr>
          <p:cNvPr id="6" name="Image 1" descr="Arte del frente de la propuesta Sello">    </p:cNvPr>
          <p:cNvPicPr>
            <a:picLocks noChangeAspect="1"/>
          </p:cNvPicPr>
          <p:nvPr/>
        </p:nvPicPr>
        <p:blipFill>
          <a:blip r:embed="rId2"/>
          <a:stretch>
            <a:fillRect/>
          </a:stretch>
        </p:blipFill>
        <p:spPr>
          <a:xfrm>
            <a:off x="548640" y="3520440"/>
            <a:ext cx="2057400" cy="2468880"/>
          </a:xfrm>
          <a:prstGeom prst="rect">
            <a:avLst/>
          </a:prstGeom>
        </p:spPr>
      </p:pic>
      <p:sp>
        <p:nvSpPr>
          <p:cNvPr id="7" name="Shape 3"/>
          <p:cNvSpPr/>
          <p:nvPr/>
        </p:nvSpPr>
        <p:spPr>
          <a:xfrm>
            <a:off x="548640" y="3520440"/>
            <a:ext cx="2057400" cy="2468880"/>
          </a:xfrm>
          <a:prstGeom prst="rect">
            <a:avLst/>
          </a:prstGeom>
          <a:solidFill>
            <a:srgbClr val="FFFFFF">
              <a:alpha val="0"/>
            </a:srgbClr>
          </a:solidFill>
          <a:ln w="9525">
            <a:solidFill>
              <a:srgbClr val="3A3A3A"/>
            </a:solidFill>
            <a:prstDash val="solid"/>
          </a:ln>
        </p:spPr>
      </p:sp>
      <p:sp>
        <p:nvSpPr>
          <p:cNvPr id="8" name="Text 4"/>
          <p:cNvSpPr txBox="1"/>
          <p:nvPr/>
        </p:nvSpPr>
        <p:spPr>
          <a:xfrm>
            <a:off x="548640" y="6062472"/>
            <a:ext cx="2514600" cy="256032"/>
          </a:xfrm>
          <a:prstGeom prst="rect">
            <a:avLst/>
          </a:prstGeom>
          <a:noFill/>
          <a:ln/>
        </p:spPr>
        <p:txBody>
          <a:bodyPr wrap="square" lIns="0" tIns="0" rIns="0" bIns="0" rtlCol="0" anchor="t"/>
          <a:lstStyle/>
          <a:p>
            <a:pPr indent="0" marL="0">
              <a:buNone/>
            </a:pPr>
            <a:r>
              <a:rPr lang="en-US" sz="1000" dirty="0">
                <a:solidFill>
                  <a:srgbClr val="A6A6A6"/>
                </a:solidFill>
                <a:latin typeface="Arial" pitchFamily="34" charset="0"/>
                <a:ea typeface="Arial" pitchFamily="34" charset="-122"/>
                <a:cs typeface="Arial" pitchFamily="34" charset="-120"/>
              </a:rPr>
              <a:t>Arte del frente · 25 × 30 cm</a:t>
            </a:r>
            <a:endParaRPr lang="en-US" sz="1000" dirty="0"/>
          </a:p>
        </p:txBody>
      </p:sp>
      <p:sp>
        <p:nvSpPr>
          <p:cNvPr id="9" name="Text 5"/>
          <p:cNvSpPr txBox="1"/>
          <p:nvPr/>
        </p:nvSpPr>
        <p:spPr>
          <a:xfrm>
            <a:off x="2971800" y="3520440"/>
            <a:ext cx="2499055" cy="228600"/>
          </a:xfrm>
          <a:prstGeom prst="rect">
            <a:avLst/>
          </a:prstGeom>
          <a:noFill/>
          <a:ln/>
        </p:spPr>
        <p:txBody>
          <a:bodyPr wrap="square" lIns="0" tIns="0" rIns="0" bIns="0" rtlCol="0" anchor="t"/>
          <a:lstStyle/>
          <a:p>
            <a:pPr indent="0" marL="0">
              <a:buNone/>
            </a:pPr>
            <a:r>
              <a:rPr lang="en-US" sz="1000" b="1" spc="150" kern="0" dirty="0">
                <a:solidFill>
                  <a:srgbClr val="A6A6A6"/>
                </a:solidFill>
                <a:latin typeface="Arial" pitchFamily="34" charset="0"/>
                <a:ea typeface="Arial" pitchFamily="34" charset="-122"/>
                <a:cs typeface="Arial" pitchFamily="34" charset="-120"/>
              </a:rPr>
              <a:t>BOLSA</a:t>
            </a:r>
            <a:endParaRPr lang="en-US" sz="1000" dirty="0"/>
          </a:p>
        </p:txBody>
      </p:sp>
      <p:sp>
        <p:nvSpPr>
          <p:cNvPr id="10" name="Text 6"/>
          <p:cNvSpPr txBox="1"/>
          <p:nvPr/>
        </p:nvSpPr>
        <p:spPr>
          <a:xfrm>
            <a:off x="2971800" y="3767328"/>
            <a:ext cx="2499055" cy="566928"/>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Negra</a:t>
            </a:r>
            <a:endParaRPr lang="en-US" sz="1300" dirty="0"/>
          </a:p>
        </p:txBody>
      </p:sp>
      <p:sp>
        <p:nvSpPr>
          <p:cNvPr id="11" name="Text 7"/>
          <p:cNvSpPr txBox="1"/>
          <p:nvPr/>
        </p:nvSpPr>
        <p:spPr>
          <a:xfrm>
            <a:off x="2971800" y="4416552"/>
            <a:ext cx="2499055" cy="228600"/>
          </a:xfrm>
          <a:prstGeom prst="rect">
            <a:avLst/>
          </a:prstGeom>
          <a:noFill/>
          <a:ln/>
        </p:spPr>
        <p:txBody>
          <a:bodyPr wrap="square" lIns="0" tIns="0" rIns="0" bIns="0" rtlCol="0" anchor="t"/>
          <a:lstStyle/>
          <a:p>
            <a:pPr indent="0" marL="0">
              <a:buNone/>
            </a:pPr>
            <a:r>
              <a:rPr lang="en-US" sz="1000" b="1" spc="150" kern="0" dirty="0">
                <a:solidFill>
                  <a:srgbClr val="A6A6A6"/>
                </a:solidFill>
                <a:latin typeface="Arial" pitchFamily="34" charset="0"/>
                <a:ea typeface="Arial" pitchFamily="34" charset="-122"/>
                <a:cs typeface="Arial" pitchFamily="34" charset="-120"/>
              </a:rPr>
              <a:t>IMPRESIÓN</a:t>
            </a:r>
            <a:endParaRPr lang="en-US" sz="1000" dirty="0"/>
          </a:p>
        </p:txBody>
      </p:sp>
      <p:sp>
        <p:nvSpPr>
          <p:cNvPr id="12" name="Text 8"/>
          <p:cNvSpPr txBox="1"/>
          <p:nvPr/>
        </p:nvSpPr>
        <p:spPr>
          <a:xfrm>
            <a:off x="2971800" y="4663440"/>
            <a:ext cx="2499055" cy="566928"/>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Blanco: serigrafía o hot stamping</a:t>
            </a:r>
            <a:endParaRPr lang="en-US" sz="1300" dirty="0"/>
          </a:p>
        </p:txBody>
      </p:sp>
      <p:sp>
        <p:nvSpPr>
          <p:cNvPr id="13" name="Text 9"/>
          <p:cNvSpPr txBox="1"/>
          <p:nvPr/>
        </p:nvSpPr>
        <p:spPr>
          <a:xfrm>
            <a:off x="2971800" y="5312664"/>
            <a:ext cx="2499055" cy="228600"/>
          </a:xfrm>
          <a:prstGeom prst="rect">
            <a:avLst/>
          </a:prstGeom>
          <a:noFill/>
          <a:ln/>
        </p:spPr>
        <p:txBody>
          <a:bodyPr wrap="square" lIns="0" tIns="0" rIns="0" bIns="0" rtlCol="0" anchor="t"/>
          <a:lstStyle/>
          <a:p>
            <a:pPr indent="0" marL="0">
              <a:buNone/>
            </a:pPr>
            <a:r>
              <a:rPr lang="en-US" sz="1000" b="1" spc="150" kern="0" dirty="0">
                <a:solidFill>
                  <a:srgbClr val="A6A6A6"/>
                </a:solidFill>
                <a:latin typeface="Arial" pitchFamily="34" charset="0"/>
                <a:ea typeface="Arial" pitchFamily="34" charset="-122"/>
                <a:cs typeface="Arial" pitchFamily="34" charset="-120"/>
              </a:rPr>
              <a:t>MANIJAS</a:t>
            </a:r>
            <a:endParaRPr lang="en-US" sz="1000" dirty="0"/>
          </a:p>
        </p:txBody>
      </p:sp>
      <p:sp>
        <p:nvSpPr>
          <p:cNvPr id="14" name="Text 10"/>
          <p:cNvSpPr txBox="1"/>
          <p:nvPr/>
        </p:nvSpPr>
        <p:spPr>
          <a:xfrm>
            <a:off x="2971800" y="5559552"/>
            <a:ext cx="2499055" cy="566928"/>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Cordón negro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Bolsa de la propuesta Reverso">    </p:cNvPr>
          <p:cNvPicPr>
            <a:picLocks noChangeAspect="1"/>
          </p:cNvPicPr>
          <p:nvPr/>
        </p:nvPicPr>
        <p:blipFill>
          <a:blip r:embed="rId1"/>
          <a:stretch>
            <a:fillRect/>
          </a:stretch>
        </p:blipFill>
        <p:spPr>
          <a:xfrm>
            <a:off x="0" y="0"/>
            <a:ext cx="6172200" cy="6858000"/>
          </a:xfrm>
          <a:prstGeom prst="rect">
            <a:avLst/>
          </a:prstGeom>
        </p:spPr>
      </p:pic>
      <p:sp>
        <p:nvSpPr>
          <p:cNvPr id="3" name="Text 0"/>
          <p:cNvSpPr txBox="1"/>
          <p:nvPr/>
        </p:nvSpPr>
        <p:spPr>
          <a:xfrm>
            <a:off x="6720840" y="640080"/>
            <a:ext cx="4922215" cy="274320"/>
          </a:xfrm>
          <a:prstGeom prst="rect">
            <a:avLst/>
          </a:prstGeom>
          <a:noFill/>
          <a:ln/>
        </p:spPr>
        <p:txBody>
          <a:bodyPr wrap="square" lIns="0" tIns="0" rIns="0" bIns="0" rtlCol="0" anchor="t"/>
          <a:lstStyle/>
          <a:p>
            <a:pPr indent="0" marL="0">
              <a:buNone/>
            </a:pPr>
            <a:r>
              <a:rPr lang="en-US" sz="1200" b="1" spc="300" kern="0" dirty="0">
                <a:solidFill>
                  <a:srgbClr val="6B6B6B"/>
                </a:solidFill>
                <a:latin typeface="Arial" pitchFamily="34" charset="0"/>
                <a:ea typeface="Arial" pitchFamily="34" charset="-122"/>
                <a:cs typeface="Arial" pitchFamily="34" charset="-120"/>
              </a:rPr>
              <a:t>PROPUESTA 09</a:t>
            </a:r>
            <a:endParaRPr lang="en-US" sz="1200" dirty="0"/>
          </a:p>
        </p:txBody>
      </p:sp>
      <p:sp>
        <p:nvSpPr>
          <p:cNvPr id="4" name="Text 1"/>
          <p:cNvSpPr txBox="1"/>
          <p:nvPr/>
        </p:nvSpPr>
        <p:spPr>
          <a:xfrm>
            <a:off x="6720840" y="932688"/>
            <a:ext cx="4922215" cy="731520"/>
          </a:xfrm>
          <a:prstGeom prst="rect">
            <a:avLst/>
          </a:prstGeom>
          <a:noFill/>
          <a:ln/>
        </p:spPr>
        <p:txBody>
          <a:bodyPr wrap="square" lIns="0" tIns="0" rIns="0" bIns="0" rtlCol="0" anchor="t"/>
          <a:lstStyle/>
          <a:p>
            <a:pPr indent="0" marL="0">
              <a:buNone/>
            </a:pPr>
            <a:r>
              <a:rPr lang="en-US" sz="3600" dirty="0">
                <a:solidFill>
                  <a:srgbClr val="111111"/>
                </a:solidFill>
                <a:latin typeface="Georgia" pitchFamily="34" charset="0"/>
                <a:ea typeface="Georgia" pitchFamily="34" charset="-122"/>
                <a:cs typeface="Georgia" pitchFamily="34" charset="-120"/>
              </a:rPr>
              <a:t>Reverso</a:t>
            </a:r>
            <a:endParaRPr lang="en-US" sz="3600" dirty="0"/>
          </a:p>
        </p:txBody>
      </p:sp>
      <p:sp>
        <p:nvSpPr>
          <p:cNvPr id="5" name="Text 2"/>
          <p:cNvSpPr txBox="1"/>
          <p:nvPr/>
        </p:nvSpPr>
        <p:spPr>
          <a:xfrm>
            <a:off x="6720840" y="1828800"/>
            <a:ext cx="4922215" cy="1417320"/>
          </a:xfrm>
          <a:prstGeom prst="rect">
            <a:avLst/>
          </a:prstGeom>
          <a:noFill/>
          <a:ln/>
        </p:spPr>
        <p:txBody>
          <a:bodyPr wrap="square" lIns="0" tIns="0" rIns="0" bIns="0" rtlCol="0" anchor="t"/>
          <a:lstStyle/>
          <a:p>
            <a:pPr indent="0" marL="0">
              <a:lnSpc>
                <a:spcPct val="115000"/>
              </a:lnSpc>
              <a:buNone/>
            </a:pPr>
            <a:r>
              <a:rPr lang="en-US" sz="1500" dirty="0">
                <a:solidFill>
                  <a:srgbClr val="111111"/>
                </a:solidFill>
                <a:latin typeface="Arial" pitchFamily="34" charset="0"/>
                <a:ea typeface="Arial" pitchFamily="34" charset="-122"/>
                <a:cs typeface="Arial" pitchFamily="34" charset="-120"/>
              </a:rPr>
              <a:t>La cara de atrás, para combinar con cualquier propuesta: WhatsApp, Instagram, dirección y un QR que abre el chat de la tienda.</a:t>
            </a:r>
            <a:endParaRPr lang="en-US" sz="1500" dirty="0"/>
          </a:p>
        </p:txBody>
      </p:sp>
      <p:pic>
        <p:nvPicPr>
          <p:cNvPr id="6" name="Image 1" descr="Arte del frente de la propuesta Reverso">    </p:cNvPr>
          <p:cNvPicPr>
            <a:picLocks noChangeAspect="1"/>
          </p:cNvPicPr>
          <p:nvPr/>
        </p:nvPicPr>
        <p:blipFill>
          <a:blip r:embed="rId2"/>
          <a:stretch>
            <a:fillRect/>
          </a:stretch>
        </p:blipFill>
        <p:spPr>
          <a:xfrm>
            <a:off x="6720840" y="3520440"/>
            <a:ext cx="2057400" cy="2468880"/>
          </a:xfrm>
          <a:prstGeom prst="rect">
            <a:avLst/>
          </a:prstGeom>
        </p:spPr>
      </p:pic>
      <p:sp>
        <p:nvSpPr>
          <p:cNvPr id="7" name="Shape 3"/>
          <p:cNvSpPr/>
          <p:nvPr/>
        </p:nvSpPr>
        <p:spPr>
          <a:xfrm>
            <a:off x="6720840" y="3520440"/>
            <a:ext cx="2057400" cy="2468880"/>
          </a:xfrm>
          <a:prstGeom prst="rect">
            <a:avLst/>
          </a:prstGeom>
          <a:solidFill>
            <a:srgbClr val="FFFFFF">
              <a:alpha val="0"/>
            </a:srgbClr>
          </a:solidFill>
          <a:ln w="9525">
            <a:solidFill>
              <a:srgbClr val="D9D9D9"/>
            </a:solidFill>
            <a:prstDash val="solid"/>
          </a:ln>
        </p:spPr>
      </p:sp>
      <p:sp>
        <p:nvSpPr>
          <p:cNvPr id="8" name="Text 4"/>
          <p:cNvSpPr txBox="1"/>
          <p:nvPr/>
        </p:nvSpPr>
        <p:spPr>
          <a:xfrm>
            <a:off x="6720840" y="6062472"/>
            <a:ext cx="2514600" cy="256032"/>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Arte del frente · 25 × 30 cm</a:t>
            </a:r>
            <a:endParaRPr lang="en-US" sz="1000" dirty="0"/>
          </a:p>
        </p:txBody>
      </p:sp>
      <p:sp>
        <p:nvSpPr>
          <p:cNvPr id="9" name="Text 5"/>
          <p:cNvSpPr txBox="1"/>
          <p:nvPr/>
        </p:nvSpPr>
        <p:spPr>
          <a:xfrm>
            <a:off x="9144000" y="3520440"/>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BOLSA</a:t>
            </a:r>
            <a:endParaRPr lang="en-US" sz="1000" dirty="0"/>
          </a:p>
        </p:txBody>
      </p:sp>
      <p:sp>
        <p:nvSpPr>
          <p:cNvPr id="10" name="Text 6"/>
          <p:cNvSpPr txBox="1"/>
          <p:nvPr/>
        </p:nvSpPr>
        <p:spPr>
          <a:xfrm>
            <a:off x="9144000" y="3767328"/>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Blanca</a:t>
            </a:r>
            <a:endParaRPr lang="en-US" sz="1300" dirty="0"/>
          </a:p>
        </p:txBody>
      </p:sp>
      <p:sp>
        <p:nvSpPr>
          <p:cNvPr id="11" name="Text 7"/>
          <p:cNvSpPr txBox="1"/>
          <p:nvPr/>
        </p:nvSpPr>
        <p:spPr>
          <a:xfrm>
            <a:off x="9144000" y="4416552"/>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IMPRESIÓN</a:t>
            </a:r>
            <a:endParaRPr lang="en-US" sz="1000" dirty="0"/>
          </a:p>
        </p:txBody>
      </p:sp>
      <p:sp>
        <p:nvSpPr>
          <p:cNvPr id="12" name="Text 8"/>
          <p:cNvSpPr txBox="1"/>
          <p:nvPr/>
        </p:nvSpPr>
        <p:spPr>
          <a:xfrm>
            <a:off x="9144000" y="4663440"/>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Una tinta negra</a:t>
            </a:r>
            <a:endParaRPr lang="en-US" sz="1300" dirty="0"/>
          </a:p>
        </p:txBody>
      </p:sp>
      <p:sp>
        <p:nvSpPr>
          <p:cNvPr id="13" name="Text 9"/>
          <p:cNvSpPr txBox="1"/>
          <p:nvPr/>
        </p:nvSpPr>
        <p:spPr>
          <a:xfrm>
            <a:off x="9144000" y="5312664"/>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MANIJAS</a:t>
            </a:r>
            <a:endParaRPr lang="en-US" sz="1000" dirty="0"/>
          </a:p>
        </p:txBody>
      </p:sp>
      <p:sp>
        <p:nvSpPr>
          <p:cNvPr id="14" name="Text 10"/>
          <p:cNvSpPr txBox="1"/>
          <p:nvPr/>
        </p:nvSpPr>
        <p:spPr>
          <a:xfrm>
            <a:off x="9144000" y="5559552"/>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Las de la propuesta elegida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Bolsa de la propuesta Monograma claro">    </p:cNvPr>
          <p:cNvPicPr>
            <a:picLocks noChangeAspect="1"/>
          </p:cNvPicPr>
          <p:nvPr/>
        </p:nvPicPr>
        <p:blipFill>
          <a:blip r:embed="rId1"/>
          <a:stretch>
            <a:fillRect/>
          </a:stretch>
        </p:blipFill>
        <p:spPr>
          <a:xfrm>
            <a:off x="6019495" y="0"/>
            <a:ext cx="6172200" cy="6858000"/>
          </a:xfrm>
          <a:prstGeom prst="rect">
            <a:avLst/>
          </a:prstGeom>
        </p:spPr>
      </p:pic>
      <p:sp>
        <p:nvSpPr>
          <p:cNvPr id="3" name="Text 0"/>
          <p:cNvSpPr txBox="1"/>
          <p:nvPr/>
        </p:nvSpPr>
        <p:spPr>
          <a:xfrm>
            <a:off x="548640" y="640080"/>
            <a:ext cx="4922215" cy="274320"/>
          </a:xfrm>
          <a:prstGeom prst="rect">
            <a:avLst/>
          </a:prstGeom>
          <a:noFill/>
          <a:ln/>
        </p:spPr>
        <p:txBody>
          <a:bodyPr wrap="square" lIns="0" tIns="0" rIns="0" bIns="0" rtlCol="0" anchor="t"/>
          <a:lstStyle/>
          <a:p>
            <a:pPr indent="0" marL="0">
              <a:buNone/>
            </a:pPr>
            <a:r>
              <a:rPr lang="en-US" sz="1200" b="1" spc="300" kern="0" dirty="0">
                <a:solidFill>
                  <a:srgbClr val="6B6B6B"/>
                </a:solidFill>
                <a:latin typeface="Arial" pitchFamily="34" charset="0"/>
                <a:ea typeface="Arial" pitchFamily="34" charset="-122"/>
                <a:cs typeface="Arial" pitchFamily="34" charset="-120"/>
              </a:rPr>
              <a:t>PROPUESTA 10</a:t>
            </a:r>
            <a:endParaRPr lang="en-US" sz="1200" dirty="0"/>
          </a:p>
        </p:txBody>
      </p:sp>
      <p:sp>
        <p:nvSpPr>
          <p:cNvPr id="4" name="Text 1"/>
          <p:cNvSpPr txBox="1"/>
          <p:nvPr/>
        </p:nvSpPr>
        <p:spPr>
          <a:xfrm>
            <a:off x="548640" y="932688"/>
            <a:ext cx="4922215" cy="731520"/>
          </a:xfrm>
          <a:prstGeom prst="rect">
            <a:avLst/>
          </a:prstGeom>
          <a:noFill/>
          <a:ln/>
        </p:spPr>
        <p:txBody>
          <a:bodyPr wrap="square" lIns="0" tIns="0" rIns="0" bIns="0" rtlCol="0" anchor="t"/>
          <a:lstStyle/>
          <a:p>
            <a:pPr indent="0" marL="0">
              <a:buNone/>
            </a:pPr>
            <a:r>
              <a:rPr lang="en-US" sz="3600" dirty="0">
                <a:solidFill>
                  <a:srgbClr val="111111"/>
                </a:solidFill>
                <a:latin typeface="Georgia" pitchFamily="34" charset="0"/>
                <a:ea typeface="Georgia" pitchFamily="34" charset="-122"/>
                <a:cs typeface="Georgia" pitchFamily="34" charset="-120"/>
              </a:rPr>
              <a:t>Monograma claro</a:t>
            </a:r>
            <a:endParaRPr lang="en-US" sz="3600" dirty="0"/>
          </a:p>
        </p:txBody>
      </p:sp>
      <p:sp>
        <p:nvSpPr>
          <p:cNvPr id="5" name="Text 2"/>
          <p:cNvSpPr txBox="1"/>
          <p:nvPr/>
        </p:nvSpPr>
        <p:spPr>
          <a:xfrm>
            <a:off x="548640" y="1828800"/>
            <a:ext cx="4922215" cy="1417320"/>
          </a:xfrm>
          <a:prstGeom prst="rect">
            <a:avLst/>
          </a:prstGeom>
          <a:noFill/>
          <a:ln/>
        </p:spPr>
        <p:txBody>
          <a:bodyPr wrap="square" lIns="0" tIns="0" rIns="0" bIns="0" rtlCol="0" anchor="t"/>
          <a:lstStyle/>
          <a:p>
            <a:pPr indent="0" marL="0">
              <a:lnSpc>
                <a:spcPct val="115000"/>
              </a:lnSpc>
              <a:buNone/>
            </a:pPr>
            <a:r>
              <a:rPr lang="en-US" sz="1500" dirty="0">
                <a:solidFill>
                  <a:srgbClr val="111111"/>
                </a:solidFill>
                <a:latin typeface="Arial" pitchFamily="34" charset="0"/>
                <a:ea typeface="Arial" pitchFamily="34" charset="-122"/>
                <a:cs typeface="Arial" pitchFamily="34" charset="-120"/>
              </a:rPr>
              <a:t>La versión clara del monograma: un patrón gris de JJ y cruces cubre la bolsa blanca, con el logo grande y el WhatsApp y el Instagram de la tienda al frente.</a:t>
            </a:r>
            <a:endParaRPr lang="en-US" sz="1500" dirty="0"/>
          </a:p>
        </p:txBody>
      </p:sp>
      <p:pic>
        <p:nvPicPr>
          <p:cNvPr id="6" name="Image 1" descr="Arte del frente de la propuesta Monograma claro">    </p:cNvPr>
          <p:cNvPicPr>
            <a:picLocks noChangeAspect="1"/>
          </p:cNvPicPr>
          <p:nvPr/>
        </p:nvPicPr>
        <p:blipFill>
          <a:blip r:embed="rId2"/>
          <a:stretch>
            <a:fillRect/>
          </a:stretch>
        </p:blipFill>
        <p:spPr>
          <a:xfrm>
            <a:off x="548640" y="3520440"/>
            <a:ext cx="2057400" cy="2468880"/>
          </a:xfrm>
          <a:prstGeom prst="rect">
            <a:avLst/>
          </a:prstGeom>
        </p:spPr>
      </p:pic>
      <p:sp>
        <p:nvSpPr>
          <p:cNvPr id="7" name="Shape 3"/>
          <p:cNvSpPr/>
          <p:nvPr/>
        </p:nvSpPr>
        <p:spPr>
          <a:xfrm>
            <a:off x="548640" y="3520440"/>
            <a:ext cx="2057400" cy="2468880"/>
          </a:xfrm>
          <a:prstGeom prst="rect">
            <a:avLst/>
          </a:prstGeom>
          <a:solidFill>
            <a:srgbClr val="FFFFFF">
              <a:alpha val="0"/>
            </a:srgbClr>
          </a:solidFill>
          <a:ln w="9525">
            <a:solidFill>
              <a:srgbClr val="D9D9D9"/>
            </a:solidFill>
            <a:prstDash val="solid"/>
          </a:ln>
        </p:spPr>
      </p:sp>
      <p:sp>
        <p:nvSpPr>
          <p:cNvPr id="8" name="Text 4"/>
          <p:cNvSpPr txBox="1"/>
          <p:nvPr/>
        </p:nvSpPr>
        <p:spPr>
          <a:xfrm>
            <a:off x="548640" y="6062472"/>
            <a:ext cx="2514600" cy="256032"/>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Arte del frente · 25 × 30 cm</a:t>
            </a:r>
            <a:endParaRPr lang="en-US" sz="1000" dirty="0"/>
          </a:p>
        </p:txBody>
      </p:sp>
      <p:sp>
        <p:nvSpPr>
          <p:cNvPr id="9" name="Text 5"/>
          <p:cNvSpPr txBox="1"/>
          <p:nvPr/>
        </p:nvSpPr>
        <p:spPr>
          <a:xfrm>
            <a:off x="2971800" y="3520440"/>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BOLSA</a:t>
            </a:r>
            <a:endParaRPr lang="en-US" sz="1000" dirty="0"/>
          </a:p>
        </p:txBody>
      </p:sp>
      <p:sp>
        <p:nvSpPr>
          <p:cNvPr id="10" name="Text 6"/>
          <p:cNvSpPr txBox="1"/>
          <p:nvPr/>
        </p:nvSpPr>
        <p:spPr>
          <a:xfrm>
            <a:off x="2971800" y="3767328"/>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Blanca</a:t>
            </a:r>
            <a:endParaRPr lang="en-US" sz="1300" dirty="0"/>
          </a:p>
        </p:txBody>
      </p:sp>
      <p:sp>
        <p:nvSpPr>
          <p:cNvPr id="11" name="Text 7"/>
          <p:cNvSpPr txBox="1"/>
          <p:nvPr/>
        </p:nvSpPr>
        <p:spPr>
          <a:xfrm>
            <a:off x="2971800" y="4416552"/>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IMPRESIÓN</a:t>
            </a:r>
            <a:endParaRPr lang="en-US" sz="1000" dirty="0"/>
          </a:p>
        </p:txBody>
      </p:sp>
      <p:sp>
        <p:nvSpPr>
          <p:cNvPr id="12" name="Text 8"/>
          <p:cNvSpPr txBox="1"/>
          <p:nvPr/>
        </p:nvSpPr>
        <p:spPr>
          <a:xfrm>
            <a:off x="2971800" y="4663440"/>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Negro y gris claro (el gris sale de una trama del negro)</a:t>
            </a:r>
            <a:endParaRPr lang="en-US" sz="1300" dirty="0"/>
          </a:p>
        </p:txBody>
      </p:sp>
      <p:sp>
        <p:nvSpPr>
          <p:cNvPr id="13" name="Text 9"/>
          <p:cNvSpPr txBox="1"/>
          <p:nvPr/>
        </p:nvSpPr>
        <p:spPr>
          <a:xfrm>
            <a:off x="2971800" y="5312664"/>
            <a:ext cx="2499055" cy="228600"/>
          </a:xfrm>
          <a:prstGeom prst="rect">
            <a:avLst/>
          </a:prstGeom>
          <a:noFill/>
          <a:ln/>
        </p:spPr>
        <p:txBody>
          <a:bodyPr wrap="square" lIns="0" tIns="0" rIns="0" bIns="0" rtlCol="0" anchor="t"/>
          <a:lstStyle/>
          <a:p>
            <a:pPr indent="0" marL="0">
              <a:buNone/>
            </a:pPr>
            <a:r>
              <a:rPr lang="en-US" sz="1000" b="1" spc="150" kern="0" dirty="0">
                <a:solidFill>
                  <a:srgbClr val="6B6B6B"/>
                </a:solidFill>
                <a:latin typeface="Arial" pitchFamily="34" charset="0"/>
                <a:ea typeface="Arial" pitchFamily="34" charset="-122"/>
                <a:cs typeface="Arial" pitchFamily="34" charset="-120"/>
              </a:rPr>
              <a:t>MANIJAS</a:t>
            </a:r>
            <a:endParaRPr lang="en-US" sz="1000" dirty="0"/>
          </a:p>
        </p:txBody>
      </p:sp>
      <p:sp>
        <p:nvSpPr>
          <p:cNvPr id="14" name="Text 10"/>
          <p:cNvSpPr txBox="1"/>
          <p:nvPr/>
        </p:nvSpPr>
        <p:spPr>
          <a:xfrm>
            <a:off x="2971800" y="5559552"/>
            <a:ext cx="2499055" cy="566928"/>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Cordón negro</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lIns="0" tIns="0" rIns="0" bIns="0" rtlCol="0" anchor="t"/>
          <a:lstStyle/>
          <a:p>
            <a:pPr indent="0" marL="0">
              <a:buNone/>
            </a:pPr>
            <a:r>
              <a:rPr lang="en-US" sz="3600" dirty="0">
                <a:solidFill>
                  <a:srgbClr val="111111"/>
                </a:solidFill>
                <a:latin typeface="Georgia" pitchFamily="34" charset="0"/>
                <a:ea typeface="Georgia" pitchFamily="34" charset="-122"/>
                <a:cs typeface="Georgia" pitchFamily="34" charset="-120"/>
              </a:rPr>
              <a:t>Referencia rápida</a:t>
            </a:r>
            <a:endParaRPr lang="en-US" sz="3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548640"/>
                <a:gridCol w="2103120"/>
                <a:gridCol w="2103120"/>
                <a:gridCol w="4876495"/>
                <a:gridCol w="1463040"/>
              </a:tblGrid>
              <a:tr h="402336">
                <a:tc>
                  <a:txBody>
                    <a:bodyPr/>
                    <a:lstStyle/>
                    <a:p>
                      <a:pP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Propuesta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Bolsa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Impresión</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Complejidad</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402336">
                <a:tc>
                  <a:txBody>
                    <a:bodyPr/>
                    <a:lstStyle/>
                    <a:p>
                      <a:pPr indent="0" marL="0">
                        <a:buNone/>
                      </a:pPr>
                      <a:r>
                        <a:rPr lang="en-US" sz="1200" dirty="0">
                          <a:solidFill>
                            <a:srgbClr val="6B6B6B"/>
                          </a:solidFill>
                          <a:latin typeface="Arial" pitchFamily="34" charset="0"/>
                          <a:ea typeface="Arial" pitchFamily="34" charset="-122"/>
                          <a:cs typeface="Arial" pitchFamily="34" charset="-120"/>
                        </a:rPr>
                        <a:t>01</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Corona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Blanca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Relieve seco en la corona y logo en negro mate</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Alta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6B6B6B"/>
                          </a:solidFill>
                          <a:latin typeface="Arial" pitchFamily="34" charset="0"/>
                          <a:ea typeface="Arial" pitchFamily="34" charset="-122"/>
                          <a:cs typeface="Arial" pitchFamily="34" charset="-120"/>
                        </a:rPr>
                        <a:t>02</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Pantalla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Negra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Blanco: serigrafía o hot stamping</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Media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r>
              <a:tr h="402336">
                <a:tc>
                  <a:txBody>
                    <a:bodyPr/>
                    <a:lstStyle/>
                    <a:p>
                      <a:pPr indent="0" marL="0">
                        <a:buNone/>
                      </a:pPr>
                      <a:r>
                        <a:rPr lang="en-US" sz="1200" dirty="0">
                          <a:solidFill>
                            <a:srgbClr val="6B6B6B"/>
                          </a:solidFill>
                          <a:latin typeface="Arial" pitchFamily="34" charset="0"/>
                          <a:ea typeface="Arial" pitchFamily="34" charset="-122"/>
                          <a:cs typeface="Arial" pitchFamily="34" charset="-120"/>
                        </a:rPr>
                        <a:t>03</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Resplandor</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Blanca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Una tinta negra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6B6B6B"/>
                          </a:solidFill>
                          <a:latin typeface="Arial" pitchFamily="34" charset="0"/>
                          <a:ea typeface="Arial" pitchFamily="34" charset="-122"/>
                          <a:cs typeface="Arial" pitchFamily="34" charset="-120"/>
                        </a:rPr>
                        <a:t>04</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Cruz en el celular</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Blanca, fuelles negros</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Una tinta negra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r>
              <a:tr h="402336">
                <a:tc>
                  <a:txBody>
                    <a:bodyPr/>
                    <a:lstStyle/>
                    <a:p>
                      <a:pPr indent="0" marL="0">
                        <a:buNone/>
                      </a:pPr>
                      <a:r>
                        <a:rPr lang="en-US" sz="1200" dirty="0">
                          <a:solidFill>
                            <a:srgbClr val="6B6B6B"/>
                          </a:solidFill>
                          <a:latin typeface="Arial" pitchFamily="34" charset="0"/>
                          <a:ea typeface="Arial" pitchFamily="34" charset="-122"/>
                          <a:cs typeface="Arial" pitchFamily="34" charset="-120"/>
                        </a:rPr>
                        <a:t>05</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Luz y sombra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Negra y blanca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Una tinta negra (la mitad negra es fondo)</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6B6B6B"/>
                          </a:solidFill>
                          <a:latin typeface="Arial" pitchFamily="34" charset="0"/>
                          <a:ea typeface="Arial" pitchFamily="34" charset="-122"/>
                          <a:cs typeface="Arial" pitchFamily="34" charset="-120"/>
                        </a:rPr>
                        <a:t>06</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Monograma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Negra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Barniz UV brillante sobre laminado mate y etiqueta blanca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Alta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r>
              <a:tr h="402336">
                <a:tc>
                  <a:txBody>
                    <a:bodyPr/>
                    <a:lstStyle/>
                    <a:p>
                      <a:pPr indent="0" marL="0">
                        <a:buNone/>
                      </a:pPr>
                      <a:r>
                        <a:rPr lang="en-US" sz="1200" dirty="0">
                          <a:solidFill>
                            <a:srgbClr val="6B6B6B"/>
                          </a:solidFill>
                          <a:latin typeface="Arial" pitchFamily="34" charset="0"/>
                          <a:ea typeface="Arial" pitchFamily="34" charset="-122"/>
                          <a:cs typeface="Arial" pitchFamily="34" charset="-120"/>
                        </a:rPr>
                        <a:t>07</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Tipográfico</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Blanca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Una tinta negra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6B6B6B"/>
                          </a:solidFill>
                          <a:latin typeface="Arial" pitchFamily="34" charset="0"/>
                          <a:ea typeface="Arial" pitchFamily="34" charset="-122"/>
                          <a:cs typeface="Arial" pitchFamily="34" charset="-120"/>
                        </a:rPr>
                        <a:t>08</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Sello</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Negra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Blanco: serigrafía o hot stamping</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Media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r>
              <a:tr h="402336">
                <a:tc>
                  <a:txBody>
                    <a:bodyPr/>
                    <a:lstStyle/>
                    <a:p>
                      <a:pPr indent="0" marL="0">
                        <a:buNone/>
                      </a:pPr>
                      <a:r>
                        <a:rPr lang="en-US" sz="1200" dirty="0">
                          <a:solidFill>
                            <a:srgbClr val="6B6B6B"/>
                          </a:solidFill>
                          <a:latin typeface="Arial" pitchFamily="34" charset="0"/>
                          <a:ea typeface="Arial" pitchFamily="34" charset="-122"/>
                          <a:cs typeface="Arial" pitchFamily="34" charset="-120"/>
                        </a:rPr>
                        <a:t>09</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Reverso</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Blanca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Una tinta negra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6B6B6B"/>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Monograma claro</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Blanca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Negro y gris claro (trama del negro)</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109728" marR="109728"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r>
            </a:tbl>
          </a:graphicData>
        </a:graphic>
      </p:graphicFrame>
      <p:sp>
        <p:nvSpPr>
          <p:cNvPr id="4" name="Text 1"/>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Complejidad = pasos de impresión y acabados. A más complejidad, normalmente más costo; la imprenta confirma precios.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t"/>
          <a:lstStyle/>
          <a:p>
            <a:pPr indent="0" marL="0">
              <a:buNone/>
            </a:pPr>
            <a:r>
              <a:rPr lang="en-US" sz="3600" dirty="0">
                <a:solidFill>
                  <a:srgbClr val="FFFFFF"/>
                </a:solidFill>
                <a:latin typeface="Georgia" pitchFamily="34" charset="0"/>
                <a:ea typeface="Georgia" pitchFamily="34" charset="-122"/>
                <a:cs typeface="Georgia" pitchFamily="34" charset="-120"/>
              </a:rPr>
              <a:t>Para producirla</a:t>
            </a:r>
            <a:endParaRPr lang="en-US" sz="3600" dirty="0"/>
          </a:p>
        </p:txBody>
      </p:sp>
      <p:sp>
        <p:nvSpPr>
          <p:cNvPr id="3" name="Text 1"/>
          <p:cNvSpPr txBox="1"/>
          <p:nvPr/>
        </p:nvSpPr>
        <p:spPr>
          <a:xfrm>
            <a:off x="548640" y="1600200"/>
            <a:ext cx="5120640" cy="274320"/>
          </a:xfrm>
          <a:prstGeom prst="rect">
            <a:avLst/>
          </a:prstGeom>
          <a:noFill/>
          <a:ln/>
        </p:spPr>
        <p:txBody>
          <a:bodyPr wrap="square" lIns="0" tIns="0" rIns="0" bIns="0" rtlCol="0" anchor="t"/>
          <a:lstStyle/>
          <a:p>
            <a:pPr indent="0" marL="0">
              <a:buNone/>
            </a:pPr>
            <a:r>
              <a:rPr lang="en-US" sz="1200" b="1" spc="300" kern="0" dirty="0">
                <a:solidFill>
                  <a:srgbClr val="A6A6A6"/>
                </a:solidFill>
                <a:latin typeface="Arial" pitchFamily="34" charset="0"/>
                <a:ea typeface="Arial" pitchFamily="34" charset="-122"/>
                <a:cs typeface="Arial" pitchFamily="34" charset="-120"/>
              </a:rPr>
              <a:t>PRODUCCIÓN</a:t>
            </a:r>
            <a:endParaRPr lang="en-US" sz="1200" dirty="0"/>
          </a:p>
        </p:txBody>
      </p:sp>
      <p:sp>
        <p:nvSpPr>
          <p:cNvPr id="4" name="Text 2"/>
          <p:cNvSpPr txBox="1"/>
          <p:nvPr/>
        </p:nvSpPr>
        <p:spPr>
          <a:xfrm>
            <a:off x="548640" y="2057400"/>
            <a:ext cx="5120640" cy="868680"/>
          </a:xfrm>
          <a:prstGeom prst="rect">
            <a:avLst/>
          </a:prstGeom>
          <a:noFill/>
          <a:ln/>
        </p:spPr>
        <p:txBody>
          <a:bodyPr wrap="square" lIns="0" tIns="0" rIns="0" bIns="0" rtlCol="0" anchor="t"/>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Tamaño  </a:t>
            </a:r>
            <a:pPr indent="0" marL="0">
              <a:lnSpc>
                <a:spcPct val="110000"/>
              </a:lnSpc>
              <a:buNone/>
            </a:pPr>
            <a:r>
              <a:rPr lang="en-US" sz="1400" dirty="0">
                <a:solidFill>
                  <a:srgbClr val="CFCFCF"/>
                </a:solidFill>
                <a:latin typeface="Arial" pitchFamily="34" charset="0"/>
                <a:ea typeface="Arial" pitchFamily="34" charset="-122"/>
                <a:cs typeface="Arial" pitchFamily="34" charset="-120"/>
              </a:rPr>
              <a:t>25 × 30 × 10 cm para el celular en su caja; 18 × 22 × 8 cm para accesorios.</a:t>
            </a:r>
            <a:endParaRPr lang="en-US" sz="1400" dirty="0"/>
          </a:p>
        </p:txBody>
      </p:sp>
      <p:sp>
        <p:nvSpPr>
          <p:cNvPr id="5" name="Text 3"/>
          <p:cNvSpPr txBox="1"/>
          <p:nvPr/>
        </p:nvSpPr>
        <p:spPr>
          <a:xfrm>
            <a:off x="548640" y="3154680"/>
            <a:ext cx="5120640" cy="868680"/>
          </a:xfrm>
          <a:prstGeom prst="rect">
            <a:avLst/>
          </a:prstGeom>
          <a:noFill/>
          <a:ln/>
        </p:spPr>
        <p:txBody>
          <a:bodyPr wrap="square" lIns="0" tIns="0" rIns="0" bIns="0" rtlCol="0" anchor="t"/>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Papel  </a:t>
            </a:r>
            <a:pPr indent="0" marL="0">
              <a:lnSpc>
                <a:spcPct val="110000"/>
              </a:lnSpc>
              <a:buNone/>
            </a:pPr>
            <a:r>
              <a:rPr lang="en-US" sz="1400" dirty="0">
                <a:solidFill>
                  <a:srgbClr val="CFCFCF"/>
                </a:solidFill>
                <a:latin typeface="Arial" pitchFamily="34" charset="0"/>
                <a:ea typeface="Arial" pitchFamily="34" charset="-122"/>
                <a:cs typeface="Arial" pitchFamily="34" charset="-120"/>
              </a:rPr>
              <a:t>Propalcote o cartulina esmaltada de 250 g con laminado mate. En las negras, cartulina negra en masa.</a:t>
            </a:r>
            <a:endParaRPr lang="en-US" sz="1400" dirty="0"/>
          </a:p>
        </p:txBody>
      </p:sp>
      <p:sp>
        <p:nvSpPr>
          <p:cNvPr id="6" name="Text 4"/>
          <p:cNvSpPr txBox="1"/>
          <p:nvPr/>
        </p:nvSpPr>
        <p:spPr>
          <a:xfrm>
            <a:off x="548640" y="4251960"/>
            <a:ext cx="5120640" cy="868680"/>
          </a:xfrm>
          <a:prstGeom prst="rect">
            <a:avLst/>
          </a:prstGeom>
          <a:noFill/>
          <a:ln/>
        </p:spPr>
        <p:txBody>
          <a:bodyPr wrap="square" lIns="0" tIns="0" rIns="0" bIns="0" rtlCol="0" anchor="t"/>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Manijas  </a:t>
            </a:r>
            <a:pPr indent="0" marL="0">
              <a:lnSpc>
                <a:spcPct val="110000"/>
              </a:lnSpc>
              <a:buNone/>
            </a:pPr>
            <a:r>
              <a:rPr lang="en-US" sz="1400" dirty="0">
                <a:solidFill>
                  <a:srgbClr val="CFCFCF"/>
                </a:solidFill>
                <a:latin typeface="Arial" pitchFamily="34" charset="0"/>
                <a:ea typeface="Arial" pitchFamily="34" charset="-122"/>
                <a:cs typeface="Arial" pitchFamily="34" charset="-120"/>
              </a:rPr>
              <a:t>Cordón negro o blanco; cinta de gorgorán para una versión más elegante.</a:t>
            </a:r>
            <a:endParaRPr lang="en-US" sz="1400" dirty="0"/>
          </a:p>
        </p:txBody>
      </p:sp>
      <p:sp>
        <p:nvSpPr>
          <p:cNvPr id="7" name="Text 5"/>
          <p:cNvSpPr txBox="1"/>
          <p:nvPr/>
        </p:nvSpPr>
        <p:spPr>
          <a:xfrm>
            <a:off x="548640" y="5349240"/>
            <a:ext cx="5120640" cy="868680"/>
          </a:xfrm>
          <a:prstGeom prst="rect">
            <a:avLst/>
          </a:prstGeom>
          <a:noFill/>
          <a:ln/>
        </p:spPr>
        <p:txBody>
          <a:bodyPr wrap="square" lIns="0" tIns="0" rIns="0" bIns="0" rtlCol="0" anchor="t"/>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Boca  </a:t>
            </a:r>
            <a:pPr indent="0" marL="0">
              <a:lnSpc>
                <a:spcPct val="110000"/>
              </a:lnSpc>
              <a:buNone/>
            </a:pPr>
            <a:r>
              <a:rPr lang="en-US" sz="1400" dirty="0">
                <a:solidFill>
                  <a:srgbClr val="CFCFCF"/>
                </a:solidFill>
                <a:latin typeface="Arial" pitchFamily="34" charset="0"/>
                <a:ea typeface="Arial" pitchFamily="34" charset="-122"/>
                <a:cs typeface="Arial" pitchFamily="34" charset="-120"/>
              </a:rPr>
              <a:t>Los 3–4 cm de arriba se doblan hacia adentro: ahí no va nada importante.</a:t>
            </a:r>
            <a:endParaRPr lang="en-US" sz="1400" dirty="0"/>
          </a:p>
        </p:txBody>
      </p:sp>
      <p:sp>
        <p:nvSpPr>
          <p:cNvPr id="8" name="Text 6"/>
          <p:cNvSpPr txBox="1"/>
          <p:nvPr/>
        </p:nvSpPr>
        <p:spPr>
          <a:xfrm>
            <a:off x="6492240" y="1600200"/>
            <a:ext cx="5120640" cy="274320"/>
          </a:xfrm>
          <a:prstGeom prst="rect">
            <a:avLst/>
          </a:prstGeom>
          <a:noFill/>
          <a:ln/>
        </p:spPr>
        <p:txBody>
          <a:bodyPr wrap="square" lIns="0" tIns="0" rIns="0" bIns="0" rtlCol="0" anchor="t"/>
          <a:lstStyle/>
          <a:p>
            <a:pPr indent="0" marL="0">
              <a:buNone/>
            </a:pPr>
            <a:r>
              <a:rPr lang="en-US" sz="1200" b="1" spc="300" kern="0" dirty="0">
                <a:solidFill>
                  <a:srgbClr val="A6A6A6"/>
                </a:solidFill>
                <a:latin typeface="Arial" pitchFamily="34" charset="0"/>
                <a:ea typeface="Arial" pitchFamily="34" charset="-122"/>
                <a:cs typeface="Arial" pitchFamily="34" charset="-120"/>
              </a:rPr>
              <a:t>SIGUIENTES PASOS</a:t>
            </a:r>
            <a:endParaRPr lang="en-US" sz="1200" dirty="0"/>
          </a:p>
        </p:txBody>
      </p:sp>
      <p:sp>
        <p:nvSpPr>
          <p:cNvPr id="9" name="Text 7"/>
          <p:cNvSpPr txBox="1"/>
          <p:nvPr/>
        </p:nvSpPr>
        <p:spPr>
          <a:xfrm>
            <a:off x="6492240" y="2011680"/>
            <a:ext cx="548640" cy="731520"/>
          </a:xfrm>
          <a:prstGeom prst="rect">
            <a:avLst/>
          </a:prstGeom>
          <a:noFill/>
          <a:ln/>
        </p:spPr>
        <p:txBody>
          <a:bodyPr wrap="square" lIns="0" tIns="0" rIns="0" bIns="0" rtlCol="0" anchor="t"/>
          <a:lstStyle/>
          <a:p>
            <a:pPr indent="0" marL="0">
              <a:buNone/>
            </a:pPr>
            <a:r>
              <a:rPr lang="en-US" sz="4000" dirty="0">
                <a:solidFill>
                  <a:srgbClr val="FFFFFF"/>
                </a:solidFill>
                <a:latin typeface="Georgia" pitchFamily="34" charset="0"/>
                <a:ea typeface="Georgia" pitchFamily="34" charset="-122"/>
                <a:cs typeface="Georgia" pitchFamily="34" charset="-120"/>
              </a:rPr>
              <a:t>1</a:t>
            </a:r>
            <a:endParaRPr lang="en-US" sz="4000" dirty="0"/>
          </a:p>
        </p:txBody>
      </p:sp>
      <p:sp>
        <p:nvSpPr>
          <p:cNvPr id="10" name="Text 8"/>
          <p:cNvSpPr txBox="1"/>
          <p:nvPr/>
        </p:nvSpPr>
        <p:spPr>
          <a:xfrm>
            <a:off x="7178040" y="2121408"/>
            <a:ext cx="4434840" cy="822960"/>
          </a:xfrm>
          <a:prstGeom prst="rect">
            <a:avLst/>
          </a:prstGeom>
          <a:noFill/>
          <a:ln/>
        </p:spPr>
        <p:txBody>
          <a:bodyPr wrap="square" lIns="0" tIns="0" rIns="0" bIns="0" rtlCol="0" anchor="t"/>
          <a:lstStyle/>
          <a:p>
            <a:pPr indent="0" marL="0">
              <a:lnSpc>
                <a:spcPct val="110000"/>
              </a:lnSpc>
              <a:buNone/>
            </a:pPr>
            <a:r>
              <a:rPr lang="en-US" sz="1600" dirty="0">
                <a:solidFill>
                  <a:srgbClr val="FFFFFF"/>
                </a:solidFill>
                <a:latin typeface="Arial" pitchFamily="34" charset="0"/>
                <a:ea typeface="Arial" pitchFamily="34" charset="-122"/>
                <a:cs typeface="Arial" pitchFamily="34" charset="-120"/>
              </a:rPr>
              <a:t>Elegir una o dos propuestas con el cliente.</a:t>
            </a:r>
            <a:endParaRPr lang="en-US" sz="1600" dirty="0"/>
          </a:p>
        </p:txBody>
      </p:sp>
      <p:sp>
        <p:nvSpPr>
          <p:cNvPr id="11" name="Text 9"/>
          <p:cNvSpPr txBox="1"/>
          <p:nvPr/>
        </p:nvSpPr>
        <p:spPr>
          <a:xfrm>
            <a:off x="6492240" y="3429000"/>
            <a:ext cx="548640" cy="731520"/>
          </a:xfrm>
          <a:prstGeom prst="rect">
            <a:avLst/>
          </a:prstGeom>
          <a:noFill/>
          <a:ln/>
        </p:spPr>
        <p:txBody>
          <a:bodyPr wrap="square" lIns="0" tIns="0" rIns="0" bIns="0" rtlCol="0" anchor="t"/>
          <a:lstStyle/>
          <a:p>
            <a:pPr indent="0" marL="0">
              <a:buNone/>
            </a:pPr>
            <a:r>
              <a:rPr lang="en-US" sz="4000" dirty="0">
                <a:solidFill>
                  <a:srgbClr val="FFFFFF"/>
                </a:solidFill>
                <a:latin typeface="Georgia" pitchFamily="34" charset="0"/>
                <a:ea typeface="Georgia" pitchFamily="34" charset="-122"/>
                <a:cs typeface="Georgia" pitchFamily="34" charset="-120"/>
              </a:rPr>
              <a:t>2</a:t>
            </a:r>
            <a:endParaRPr lang="en-US" sz="4000" dirty="0"/>
          </a:p>
        </p:txBody>
      </p:sp>
      <p:sp>
        <p:nvSpPr>
          <p:cNvPr id="12" name="Text 10"/>
          <p:cNvSpPr txBox="1"/>
          <p:nvPr/>
        </p:nvSpPr>
        <p:spPr>
          <a:xfrm>
            <a:off x="7178040" y="3538728"/>
            <a:ext cx="4434840" cy="822960"/>
          </a:xfrm>
          <a:prstGeom prst="rect">
            <a:avLst/>
          </a:prstGeom>
          <a:noFill/>
          <a:ln/>
        </p:spPr>
        <p:txBody>
          <a:bodyPr wrap="square" lIns="0" tIns="0" rIns="0" bIns="0" rtlCol="0" anchor="t"/>
          <a:lstStyle/>
          <a:p>
            <a:pPr indent="0" marL="0">
              <a:lnSpc>
                <a:spcPct val="110000"/>
              </a:lnSpc>
              <a:buNone/>
            </a:pPr>
            <a:r>
              <a:rPr lang="en-US" sz="1600" dirty="0">
                <a:solidFill>
                  <a:srgbClr val="FFFFFF"/>
                </a:solidFill>
                <a:latin typeface="Arial" pitchFamily="34" charset="0"/>
                <a:ea typeface="Arial" pitchFamily="34" charset="-122"/>
                <a:cs typeface="Arial" pitchFamily="34" charset="-120"/>
              </a:rPr>
              <a:t>Montar el logo original y los datos reales: número, @, dirección y QR.</a:t>
            </a:r>
            <a:endParaRPr lang="en-US" sz="1600" dirty="0"/>
          </a:p>
        </p:txBody>
      </p:sp>
      <p:sp>
        <p:nvSpPr>
          <p:cNvPr id="13" name="Text 11"/>
          <p:cNvSpPr txBox="1"/>
          <p:nvPr/>
        </p:nvSpPr>
        <p:spPr>
          <a:xfrm>
            <a:off x="6492240" y="4846320"/>
            <a:ext cx="548640" cy="731520"/>
          </a:xfrm>
          <a:prstGeom prst="rect">
            <a:avLst/>
          </a:prstGeom>
          <a:noFill/>
          <a:ln/>
        </p:spPr>
        <p:txBody>
          <a:bodyPr wrap="square" lIns="0" tIns="0" rIns="0" bIns="0" rtlCol="0" anchor="t"/>
          <a:lstStyle/>
          <a:p>
            <a:pPr indent="0" marL="0">
              <a:buNone/>
            </a:pPr>
            <a:r>
              <a:rPr lang="en-US" sz="4000" dirty="0">
                <a:solidFill>
                  <a:srgbClr val="FFFFFF"/>
                </a:solidFill>
                <a:latin typeface="Georgia" pitchFamily="34" charset="0"/>
                <a:ea typeface="Georgia" pitchFamily="34" charset="-122"/>
                <a:cs typeface="Georgia" pitchFamily="34" charset="-120"/>
              </a:rPr>
              <a:t>3</a:t>
            </a:r>
            <a:endParaRPr lang="en-US" sz="4000" dirty="0"/>
          </a:p>
        </p:txBody>
      </p:sp>
      <p:sp>
        <p:nvSpPr>
          <p:cNvPr id="14" name="Text 12"/>
          <p:cNvSpPr txBox="1"/>
          <p:nvPr/>
        </p:nvSpPr>
        <p:spPr>
          <a:xfrm>
            <a:off x="7178040" y="4956048"/>
            <a:ext cx="4434840" cy="822960"/>
          </a:xfrm>
          <a:prstGeom prst="rect">
            <a:avLst/>
          </a:prstGeom>
          <a:noFill/>
          <a:ln/>
        </p:spPr>
        <p:txBody>
          <a:bodyPr wrap="square" lIns="0" tIns="0" rIns="0" bIns="0" rtlCol="0" anchor="t"/>
          <a:lstStyle/>
          <a:p>
            <a:pPr indent="0" marL="0">
              <a:lnSpc>
                <a:spcPct val="110000"/>
              </a:lnSpc>
              <a:buNone/>
            </a:pPr>
            <a:r>
              <a:rPr lang="en-US" sz="1600" dirty="0">
                <a:solidFill>
                  <a:srgbClr val="FFFFFF"/>
                </a:solidFill>
                <a:latin typeface="Arial" pitchFamily="34" charset="0"/>
                <a:ea typeface="Arial" pitchFamily="34" charset="-122"/>
                <a:cs typeface="Arial" pitchFamily="34" charset="-120"/>
              </a:rPr>
              <a:t>Pedir a la imprenta su troquel y cotizar con la técnica elegida.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JDCEL Bq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JDCEL Bq · Propuestas de bolsa</dc:title>
  <dc:subject>PptxGenJS Presentation</dc:subject>
  <dc:creator>PptxGenJS</dc:creator>
  <cp:lastModifiedBy>PptxGenJS</cp:lastModifiedBy>
  <cp:revision>1</cp:revision>
  <dcterms:created xsi:type="dcterms:W3CDTF">2026-09-26T21:18:05Z</dcterms:created>
  <dcterms:modified xsi:type="dcterms:W3CDTF">2026-09-26T21:18:05Z</dcterms:modified>
</cp:coreProperties>
</file>